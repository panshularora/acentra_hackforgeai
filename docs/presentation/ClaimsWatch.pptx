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ClaimsWatch  ·  Acentra Health “Build to Care” code-a-thon  ·  28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When a Medicaid eligibility service fails, a patient can be turned away at the pharmacy.</a:t>
            </a:r>
          </a:p>
        </p:txBody>
      </p:sp>
      <p:pic>
        <p:nvPicPr>
          <p:cNvPr id="4" name="Picture 3" descr="dashboard-norma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9455" y="1874519"/>
            <a:ext cx="5943600" cy="3714750"/>
          </a:xfrm>
          <a:prstGeom prst="rect">
            <a:avLst/>
          </a:prstGeom>
          <a:ln w="9525">
            <a:solidFill>
              <a:srgbClr val="262B3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1874519"/>
            <a:ext cx="4739335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 i="0">
                <a:solidFill>
                  <a:srgbClr val="E6E8EB"/>
                </a:solidFill>
                <a:latin typeface="Inter"/>
              </a:rPr>
              <a:t>Acentra Health formed in </a:t>
            </a:r>
            <a:r>
              <a:rPr sz="1500" b="0" i="0">
                <a:solidFill>
                  <a:srgbClr val="E6E8EB"/>
                </a:solidFill>
                <a:latin typeface="JetBrains Mono"/>
              </a:rPr>
              <a:t>2023</a:t>
            </a:r>
            <a:r>
              <a:rPr sz="1500" b="0" i="0">
                <a:solidFill>
                  <a:srgbClr val="E6E8EB"/>
                </a:solidFill>
                <a:latin typeface="Inter"/>
              </a:rPr>
              <a:t> from the merger of CNSI and Kepro, with about </a:t>
            </a:r>
            <a:r>
              <a:rPr sz="1500" b="0" i="0">
                <a:solidFill>
                  <a:srgbClr val="E6E8EB"/>
                </a:solidFill>
                <a:latin typeface="JetBrains Mono"/>
              </a:rPr>
              <a:t>3,300</a:t>
            </a:r>
            <a:r>
              <a:rPr sz="1500" b="0" i="0">
                <a:solidFill>
                  <a:srgbClr val="E6E8EB"/>
                </a:solidFill>
                <a:latin typeface="Inter"/>
              </a:rPr>
              <a:t> employees and an office in Chennai.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 i="0">
                <a:solidFill>
                  <a:srgbClr val="E6E8EB"/>
                </a:solidFill>
                <a:latin typeface="Inter"/>
              </a:rPr>
              <a:t>An AWS Advanced Partner, it runs evoBrix X, a cloud-based Medicaid claims platform.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 i="0">
                <a:solidFill>
                  <a:srgbClr val="E6E8EB"/>
                </a:solidFill>
                <a:latin typeface="Inter"/>
              </a:rPr>
              <a:t>ClaimsWatch watches claims-service logs and tells on-call what broke, and where, within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0902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77790"/>
            <a:ext cx="473933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Inter Medium"/>
              </a:rPr>
              <a:t>Panshul Arora · Naman Rai · Aarati Deshmukh · Aaditey Nim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4476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8A929C"/>
                </a:solidFill>
                <a:latin typeface="JetBrains Mono"/>
              </a:rPr>
              <a:t>Sources: acentra.com/about-us  ·  acentra.com/technologies/evobrix-x  ·  aws.amazon.com/blogs/publicsector/acentra-health-processes-35m-medicare-documents-50-faster-with-idp-on-aws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Error-rate alerts tell the on-call engineer that something broke, but not what broke or where.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01368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A typical error-rate 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64327" cy="3246120"/>
          </a:xfrm>
          <a:prstGeom prst="roundRect">
            <a:avLst>
              <a:gd name="adj" fmla="val 117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72424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 SemiBold"/>
              </a:rPr>
              <a:t>ALARM  ErrorRate above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E6E8EB"/>
                </a:solidFill>
                <a:latin typeface="Inter SemiBold"/>
              </a:rPr>
              <a:t>Error rate </a:t>
            </a:r>
            <a:r>
              <a:rPr sz="2400" b="0" i="0">
                <a:solidFill>
                  <a:srgbClr val="E6E8EB"/>
                </a:solidFill>
                <a:latin typeface="JetBrains Mono SemiBold"/>
              </a:rPr>
              <a:t>7.1%</a:t>
            </a:r>
            <a:r>
              <a:rPr sz="2400" b="0" i="0">
                <a:solidFill>
                  <a:srgbClr val="E6E8EB"/>
                </a:solidFill>
                <a:latin typeface="Inter SemiBold"/>
              </a:rPr>
              <a:t>, </a:t>
            </a:r>
            <a:r>
              <a:rPr sz="2400" b="0" i="0">
                <a:solidFill>
                  <a:srgbClr val="E6E8EB"/>
                </a:solidFill>
                <a:latin typeface="JetBrains Mono SemiBold"/>
              </a:rPr>
              <a:t>3.2×</a:t>
            </a:r>
            <a:r>
              <a:rPr sz="2400" b="0" i="0">
                <a:solidFill>
                  <a:srgbClr val="E6E8EB"/>
                </a:solidFill>
                <a:latin typeface="Inter SemiBold"/>
              </a:rPr>
              <a:t>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4724247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A929C"/>
                </a:solidFill>
                <a:latin typeface="Inter"/>
              </a:rPr>
              <a:t>Which service? Which error? Which client?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8A929C"/>
                </a:solidFill>
                <a:latin typeface="Inter"/>
              </a:rPr>
              <a:t>The engineer starts digging through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801368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The ClaimsWatch alert for the same incident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48840"/>
            <a:ext cx="5364327" cy="3246120"/>
          </a:xfrm>
          <a:prstGeom prst="roundRect">
            <a:avLst>
              <a:gd name="adj" fmla="val 117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78727" y="2148840"/>
            <a:ext cx="45720" cy="3246120"/>
          </a:xfrm>
          <a:prstGeom prst="rect">
            <a:avLst/>
          </a:prstGeom>
          <a:solidFill>
            <a:srgbClr val="E0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98767" y="2478024"/>
            <a:ext cx="1097280" cy="256032"/>
          </a:xfrm>
          <a:prstGeom prst="roundRect">
            <a:avLst>
              <a:gd name="adj" fmla="val 14880"/>
            </a:avLst>
          </a:prstGeom>
          <a:noFill/>
          <a:ln w="11430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E03131"/>
                </a:solidFill>
                <a:latin typeface="JetBrains Mono SemiBold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2971800"/>
            <a:ext cx="4724247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 i="0">
                <a:solidFill>
                  <a:srgbClr val="E6E8EB"/>
                </a:solidFill>
                <a:latin typeface="Inter SemiBold"/>
              </a:rPr>
              <a:t>82% of errors come from claim‑adjudication: DB connection 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4434840"/>
            <a:ext cx="4724247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Inter"/>
              </a:rPr>
              <a:t>Peak z-score  </a:t>
            </a:r>
            <a:r>
              <a:rPr sz="1300" b="0" i="0">
                <a:solidFill>
                  <a:srgbClr val="E6E8EB"/>
                </a:solidFill>
                <a:latin typeface="JetBrains Mono"/>
              </a:rPr>
              <a:t>16.4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Inter"/>
              </a:rPr>
              <a:t>Peak error rate  </a:t>
            </a:r>
            <a:r>
              <a:rPr sz="1300" b="0" i="0">
                <a:solidFill>
                  <a:srgbClr val="E6E8EB"/>
                </a:solidFill>
                <a:latin typeface="JetBrains Mono"/>
              </a:rPr>
              <a:t>7.1% vs 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Inter"/>
              </a:rPr>
              <a:t>Both built from the same replayed database outage (</a:t>
            </a:r>
            <a:r>
              <a:rPr sz="1300" b="0" i="0">
                <a:solidFill>
                  <a:srgbClr val="8A929C"/>
                </a:solidFill>
                <a:latin typeface="JetBrains Mono"/>
              </a:rPr>
              <a:t>make replay</a:t>
            </a:r>
            <a:r>
              <a:rPr sz="1300" b="0" i="0">
                <a:solidFill>
                  <a:srgbClr val="8A929C"/>
                </a:solidFill>
                <a:latin typeface="Inter"/>
              </a:rPr>
              <a:t>, seed </a:t>
            </a:r>
            <a:r>
              <a:rPr sz="1300" b="0" i="0">
                <a:solidFill>
                  <a:srgbClr val="8A929C"/>
                </a:solidFill>
                <a:latin typeface="JetBrains Mono"/>
              </a:rPr>
              <a:t>2026</a:t>
            </a:r>
            <a:r>
              <a:rPr sz="1300" b="0" i="0">
                <a:solidFill>
                  <a:srgbClr val="8A929C"/>
                </a:solidFill>
                <a:latin typeface="Inter"/>
              </a:rPr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Our detector learns normal behaviour from the log itself and flags errors that rise well above it.</a:t>
            </a:r>
          </a:p>
        </p:txBody>
      </p:sp>
      <p:pic>
        <p:nvPicPr>
          <p:cNvPr id="3" name="Picture 2" descr="dashboard-db-outage.png"/>
          <p:cNvPicPr>
            <a:picLocks noChangeAspect="1"/>
          </p:cNvPicPr>
          <p:nvPr/>
        </p:nvPicPr>
        <p:blipFill>
          <a:blip r:embed="rId2"/>
          <a:srcRect l="1172" t="20000" r="34473" b="1875"/>
          <a:stretch>
            <a:fillRect/>
          </a:stretch>
        </p:blipFill>
        <p:spPr>
          <a:xfrm>
            <a:off x="548640" y="1783080"/>
            <a:ext cx="5724601" cy="4343400"/>
          </a:xfrm>
          <a:prstGeom prst="rect">
            <a:avLst/>
          </a:prstGeom>
          <a:ln w="9525">
            <a:solidFill>
              <a:srgbClr val="262B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730441" y="1783080"/>
            <a:ext cx="491261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Modified z-score (Iglewicz &amp; Hoaglin, 1993)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30441" y="2093976"/>
            <a:ext cx="4912614" cy="868680"/>
          </a:xfrm>
          <a:prstGeom prst="roundRect">
            <a:avLst>
              <a:gd name="adj" fmla="val 4385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30441" y="2093976"/>
            <a:ext cx="49126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JetBrains Mono SemiBold"/>
              </a:rPr>
              <a:t>score = 0.6745 × (rate − median) / 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0441" y="3246120"/>
            <a:ext cx="491261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Severity thresholds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30441" y="3593591"/>
            <a:ext cx="982980" cy="256032"/>
          </a:xfrm>
          <a:prstGeom prst="roundRect">
            <a:avLst>
              <a:gd name="adj" fmla="val 14880"/>
            </a:avLst>
          </a:prstGeom>
          <a:noFill/>
          <a:ln w="11430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E0A100"/>
                </a:solidFill>
                <a:latin typeface="JetBrains Mono SemiBold"/>
              </a:rPr>
              <a:t>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6321" y="35844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score ≥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30441" y="3995928"/>
            <a:ext cx="640080" cy="256032"/>
          </a:xfrm>
          <a:prstGeom prst="roundRect">
            <a:avLst>
              <a:gd name="adj" fmla="val 14880"/>
            </a:avLst>
          </a:prstGeom>
          <a:noFill/>
          <a:ln w="1143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E8590C"/>
                </a:solidFill>
                <a:latin typeface="JetBrains Mono SemiBold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6321" y="39867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score ≥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0441" y="4398264"/>
            <a:ext cx="1097280" cy="256032"/>
          </a:xfrm>
          <a:prstGeom prst="roundRect">
            <a:avLst>
              <a:gd name="adj" fmla="val 14880"/>
            </a:avLst>
          </a:prstGeom>
          <a:noFill/>
          <a:ln w="11430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E03131"/>
                </a:solidFill>
                <a:latin typeface="JetBrains Mono SemiBold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6321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score ≥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0441" y="4910328"/>
            <a:ext cx="4912614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8A929C"/>
                </a:solidFill>
                <a:latin typeface="Inter"/>
              </a:rPr>
              <a:t>Median and MAD of the last </a:t>
            </a:r>
            <a:r>
              <a:rPr sz="1300" b="0" i="0">
                <a:solidFill>
                  <a:srgbClr val="8A929C"/>
                </a:solidFill>
                <a:latin typeface="JetBrains Mono"/>
              </a:rPr>
              <a:t>30</a:t>
            </a:r>
            <a:r>
              <a:rPr sz="1300" b="0" i="0">
                <a:solidFill>
                  <a:srgbClr val="8A929C"/>
                </a:solidFill>
                <a:latin typeface="Inter"/>
              </a:rPr>
              <a:t> window error rates, so one past spike barely moves them.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3.5</a:t>
            </a:r>
            <a:r>
              <a:rPr sz="1300" b="0" i="0">
                <a:solidFill>
                  <a:srgbClr val="8A929C"/>
                </a:solidFill>
                <a:latin typeface="Inter"/>
              </a:rPr>
              <a:t> is the published outlier cut-off; </a:t>
            </a:r>
            <a:r>
              <a:rPr sz="1300" b="0" i="0">
                <a:solidFill>
                  <a:srgbClr val="8A929C"/>
                </a:solidFill>
                <a:latin typeface="JetBrains Mono"/>
              </a:rPr>
              <a:t>5</a:t>
            </a:r>
            <a:r>
              <a:rPr sz="1300" b="0" i="0">
                <a:solidFill>
                  <a:srgbClr val="8A929C"/>
                </a:solidFill>
                <a:latin typeface="Inter"/>
              </a:rPr>
              <a:t> and </a:t>
            </a:r>
            <a:r>
              <a:rPr sz="1300" b="0" i="0">
                <a:solidFill>
                  <a:srgbClr val="8A929C"/>
                </a:solidFill>
                <a:latin typeface="JetBrains Mono"/>
              </a:rPr>
              <a:t>8</a:t>
            </a:r>
            <a:r>
              <a:rPr sz="1300" b="0" i="0">
                <a:solidFill>
                  <a:srgbClr val="8A929C"/>
                </a:solidFill>
                <a:latin typeface="Inter"/>
              </a:rPr>
              <a:t> are our escalation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From one log line to one alert, in six stages.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970166" cy="1828800"/>
          </a:xfrm>
          <a:prstGeom prst="roundRect">
            <a:avLst>
              <a:gd name="adj" fmla="val 208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746504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84248"/>
            <a:ext cx="164098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Inter SemiBold"/>
              </a:rPr>
              <a:t>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13432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ingest/tailer.py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87752"/>
            <a:ext cx="164098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6E8EB"/>
                </a:solidFill>
                <a:latin typeface="Inter"/>
              </a:rPr>
              <a:t>Polls app.log every 250 ms; survives truncation and rotation.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9702" y="1600200"/>
            <a:ext cx="1970166" cy="1828800"/>
          </a:xfrm>
          <a:prstGeom prst="roundRect">
            <a:avLst>
              <a:gd name="adj" fmla="val 208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994294" y="1746504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4294" y="1984248"/>
            <a:ext cx="164098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Inter SemiBold"/>
              </a:rPr>
              <a:t>Parse + mask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4294" y="2313432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ingest/parser.py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4294" y="2587752"/>
            <a:ext cx="164098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6E8EB"/>
                </a:solidFill>
                <a:latin typeface="Inter"/>
              </a:rPr>
              <a:t>PHI is masked before any field is extracted.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55382" y="2514600"/>
            <a:ext cx="237744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0764" y="1600200"/>
            <a:ext cx="1970166" cy="1828800"/>
          </a:xfrm>
          <a:prstGeom prst="roundRect">
            <a:avLst>
              <a:gd name="adj" fmla="val 208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75356" y="1746504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5356" y="1984248"/>
            <a:ext cx="164098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Inter SemiBold"/>
              </a:rPr>
              <a:t>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5356" y="2313432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detection/window.py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5356" y="2587752"/>
            <a:ext cx="164098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6E8EB"/>
                </a:solidFill>
                <a:latin typeface="Inter"/>
              </a:rPr>
              <a:t>10 s buckets roll into a 60 s error rate.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36444" y="2514600"/>
            <a:ext cx="237744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1826" y="1600200"/>
            <a:ext cx="1970166" cy="1828800"/>
          </a:xfrm>
          <a:prstGeom prst="roundRect">
            <a:avLst>
              <a:gd name="adj" fmla="val 208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56418" y="1746504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6418" y="1984248"/>
            <a:ext cx="164098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Inter SemiBold"/>
              </a:rP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6418" y="2313432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detection/baseline.py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6418" y="2587752"/>
            <a:ext cx="164098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6E8EB"/>
                </a:solidFill>
                <a:latin typeface="Inter"/>
              </a:rPr>
              <a:t>Median and MAD of the last 30 normal rates.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17506" y="2514600"/>
            <a:ext cx="237744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72888" y="1600200"/>
            <a:ext cx="1970166" cy="1828800"/>
          </a:xfrm>
          <a:prstGeom prst="roundRect">
            <a:avLst>
              <a:gd name="adj" fmla="val 208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837480" y="1746504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7480" y="1984248"/>
            <a:ext cx="164098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Inter SemiBold"/>
              </a:rPr>
              <a:t>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7480" y="2313432"/>
            <a:ext cx="164098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detection/detector.py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7480" y="2587752"/>
            <a:ext cx="164098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E6E8EB"/>
                </a:solidFill>
                <a:latin typeface="Inter"/>
              </a:rPr>
              <a:t>Score and severity; incident opens, updates, resolves.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98568" y="2514600"/>
            <a:ext cx="237744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57972" y="3456432"/>
            <a:ext cx="0" cy="356616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840480"/>
            <a:ext cx="11094415" cy="2240280"/>
          </a:xfrm>
          <a:prstGeom prst="roundRect">
            <a:avLst>
              <a:gd name="adj" fmla="val 1700"/>
            </a:avLst>
          </a:prstGeom>
          <a:solidFill>
            <a:srgbClr val="111418"/>
          </a:solidFill>
          <a:ln w="9525">
            <a:solidFill>
              <a:srgbClr val="34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40233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261104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Inter SemiBold"/>
              </a:rPr>
              <a:t>Store and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E6E8EB"/>
                </a:solidFill>
                <a:latin typeface="Inter SemiBold"/>
              </a:rPr>
              <a:t>fan 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8840" y="4604004"/>
            <a:ext cx="2240280" cy="713232"/>
          </a:xfrm>
          <a:prstGeom prst="roundRect">
            <a:avLst>
              <a:gd name="adj" fmla="val 5341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2313432" y="4722876"/>
            <a:ext cx="19110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Inter SemiBold"/>
              </a:rPr>
              <a:t>SQLite alert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13432" y="5015484"/>
            <a:ext cx="19110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alerts/store.py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4142232"/>
            <a:ext cx="2926080" cy="713232"/>
          </a:xfrm>
          <a:prstGeom prst="roundRect">
            <a:avLst>
              <a:gd name="adj" fmla="val 5341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93792" y="4261104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Inter SemiBold"/>
              </a:rPr>
              <a:t>WebSocket /ws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3792" y="4553712"/>
            <a:ext cx="25968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api/ws.py · api/routes.py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5065776"/>
            <a:ext cx="2926080" cy="713232"/>
          </a:xfrm>
          <a:prstGeom prst="roundRect">
            <a:avLst>
              <a:gd name="adj" fmla="val 5341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93792" y="5184648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Inter SemiBold"/>
              </a:rPr>
              <a:t>AWS publisher (background)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3792" y="5477256"/>
            <a:ext cx="25968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alerts/publisher.py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4142232"/>
            <a:ext cx="3001975" cy="713232"/>
          </a:xfrm>
          <a:prstGeom prst="roundRect">
            <a:avLst>
              <a:gd name="adj" fmla="val 5341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577072" y="4261104"/>
            <a:ext cx="26727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Inter SemiBold"/>
              </a:rPr>
              <a:t>React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072" y="4553712"/>
            <a:ext cx="267279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frontend/src/App.tsx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12480" y="5065776"/>
            <a:ext cx="3001975" cy="713232"/>
          </a:xfrm>
          <a:prstGeom prst="roundRect">
            <a:avLst>
              <a:gd name="adj" fmla="val 5341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577072" y="5184648"/>
            <a:ext cx="2672791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Inter SemiBold"/>
              </a:rPr>
              <a:t>SNS + CloudWatch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5477256"/>
            <a:ext cx="267279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A929C"/>
                </a:solidFill>
                <a:latin typeface="JetBrains Mono"/>
              </a:rPr>
              <a:t>moto locally; real AWS as-is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389120" y="4960620"/>
            <a:ext cx="320040" cy="0"/>
          </a:xfrm>
          <a:prstGeom prst="line">
            <a:avLst/>
          </a:prstGeom>
          <a:ln w="15875">
            <a:solidFill>
              <a:srgbClr val="8A9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09160" y="4498848"/>
            <a:ext cx="0" cy="923544"/>
          </a:xfrm>
          <a:prstGeom prst="line">
            <a:avLst/>
          </a:prstGeom>
          <a:ln w="15875">
            <a:solidFill>
              <a:srgbClr val="8A9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709160" y="4498848"/>
            <a:ext cx="283464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91856" y="4498848"/>
            <a:ext cx="384048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709160" y="5422392"/>
            <a:ext cx="283464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91856" y="5422392"/>
            <a:ext cx="384048" cy="0"/>
          </a:xfrm>
          <a:prstGeom prst="line">
            <a:avLst/>
          </a:prstGeom>
          <a:ln w="15875">
            <a:solidFill>
              <a:srgbClr val="8A92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The database outage was caught in </a:t>
            </a:r>
            <a:r>
              <a:rPr sz="2800" b="0" i="0">
                <a:solidFill>
                  <a:srgbClr val="E6E8EB"/>
                </a:solidFill>
                <a:latin typeface="JetBrains Mono SemiBold"/>
              </a:rPr>
              <a:t>20</a:t>
            </a:r>
            <a:r>
              <a:rPr sz="2800" b="0" i="0">
                <a:solidFill>
                  <a:srgbClr val="E6E8EB"/>
                </a:solidFill>
                <a:latin typeface="Inter SemiBold"/>
              </a:rPr>
              <a:t> seconds, and the alert names the failing service.</a:t>
            </a:r>
          </a:p>
        </p:txBody>
      </p:sp>
      <p:pic>
        <p:nvPicPr>
          <p:cNvPr id="3" name="Picture 2" descr="dashboard-db-out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783080"/>
            <a:ext cx="7095744" cy="4434840"/>
          </a:xfrm>
          <a:prstGeom prst="rect">
            <a:avLst/>
          </a:prstGeom>
          <a:ln w="9525">
            <a:solidFill>
              <a:srgbClr val="262B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101583" y="1673352"/>
            <a:ext cx="354147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0" i="0">
                <a:solidFill>
                  <a:srgbClr val="E6E8EB"/>
                </a:solidFill>
                <a:latin typeface="JetBrains Mono SemiBold"/>
              </a:rPr>
              <a:t>20</a:t>
            </a:r>
            <a:r>
              <a:rPr sz="2000" b="0" i="0">
                <a:solidFill>
                  <a:srgbClr val="8A929C"/>
                </a:solidFill>
                <a:latin typeface="Inter Medium"/>
              </a:rPr>
              <a:t> 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1583" y="2679191"/>
            <a:ext cx="354147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detection latency, replay of a 45 s outage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(make replay, seed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1583" y="3429000"/>
            <a:ext cx="3541471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300" b="0" i="0">
                <a:solidFill>
                  <a:srgbClr val="E6E8EB"/>
                </a:solidFill>
                <a:latin typeface="Inter"/>
              </a:rPr>
              <a:t>Opened </a:t>
            </a:r>
            <a:r>
              <a:rPr sz="1300" b="0" i="0">
                <a:solidFill>
                  <a:srgbClr val="E8590C"/>
                </a:solidFill>
                <a:latin typeface="JetBrains Mono SemiBold"/>
              </a:rPr>
              <a:t>HIGH</a:t>
            </a:r>
            <a:r>
              <a:rPr sz="1300" b="0" i="0">
                <a:solidFill>
                  <a:srgbClr val="E6E8EB"/>
                </a:solidFill>
                <a:latin typeface="Inter"/>
              </a:rPr>
              <a:t> after </a:t>
            </a:r>
            <a:r>
              <a:rPr sz="1300" b="0" i="0">
                <a:solidFill>
                  <a:srgbClr val="E6E8EB"/>
                </a:solidFill>
                <a:latin typeface="JetBrains Mono"/>
              </a:rPr>
              <a:t>2</a:t>
            </a:r>
            <a:r>
              <a:rPr sz="1300" b="0" i="0">
                <a:solidFill>
                  <a:srgbClr val="E6E8EB"/>
                </a:solidFill>
                <a:latin typeface="Inter"/>
              </a:rPr>
              <a:t> ten‑second buckets, peaked </a:t>
            </a:r>
            <a:r>
              <a:rPr sz="1300" b="0" i="0">
                <a:solidFill>
                  <a:srgbClr val="E03131"/>
                </a:solidFill>
                <a:latin typeface="JetBrains Mono SemiBold"/>
              </a:rPr>
              <a:t>CRITICAL</a:t>
            </a:r>
            <a:r>
              <a:rPr sz="1300" b="0" i="0">
                <a:solidFill>
                  <a:srgbClr val="E6E8EB"/>
                </a:solidFill>
                <a:latin typeface="Inter"/>
              </a:rPr>
              <a:t> at z = </a:t>
            </a:r>
            <a:r>
              <a:rPr sz="1300" b="0" i="0">
                <a:solidFill>
                  <a:srgbClr val="E6E8EB"/>
                </a:solidFill>
                <a:latin typeface="JetBrains Mono"/>
              </a:rPr>
              <a:t>16.4</a:t>
            </a:r>
            <a:r>
              <a:rPr sz="1300" b="0" i="0">
                <a:solidFill>
                  <a:srgbClr val="E6E8EB"/>
                </a:solidFill>
                <a:latin typeface="Inter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300" b="0" i="0">
                <a:solidFill>
                  <a:srgbClr val="E6E8EB"/>
                </a:solidFill>
                <a:latin typeface="Inter"/>
              </a:rPr>
              <a:t>“82% of errors come from claim‑adjudication: DB connection timeout”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100" b="0" i="0">
                <a:solidFill>
                  <a:srgbClr val="8A929C"/>
                </a:solidFill>
                <a:latin typeface="Inter"/>
              </a:rPr>
              <a:t>Screenshot: the live stack during an injected outage (make incident-db).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The same detector caught a credential-stuffing attack from </a:t>
            </a:r>
            <a:r>
              <a:rPr sz="2800" b="0" i="0">
                <a:solidFill>
                  <a:srgbClr val="E6E8EB"/>
                </a:solidFill>
                <a:latin typeface="JetBrains Mono SemiBold"/>
              </a:rPr>
              <a:t>10.4.2.17</a:t>
            </a:r>
            <a:r>
              <a:rPr sz="2800" b="0" i="0">
                <a:solidFill>
                  <a:srgbClr val="E6E8EB"/>
                </a:solidFill>
                <a:latin typeface="Inter SemiBold"/>
              </a:rPr>
              <a:t>.</a:t>
            </a:r>
          </a:p>
        </p:txBody>
      </p:sp>
      <p:pic>
        <p:nvPicPr>
          <p:cNvPr id="3" name="Picture 2" descr="dashboard-cred-stuff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783080"/>
            <a:ext cx="7095744" cy="4434840"/>
          </a:xfrm>
          <a:prstGeom prst="rect">
            <a:avLst/>
          </a:prstGeom>
          <a:ln w="9525">
            <a:solidFill>
              <a:srgbClr val="262B33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101583" y="1673352"/>
            <a:ext cx="3541471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0" i="0">
                <a:solidFill>
                  <a:srgbClr val="E6E8EB"/>
                </a:solidFill>
                <a:latin typeface="JetBrains Mono SemiBold"/>
              </a:rPr>
              <a:t>10</a:t>
            </a:r>
            <a:r>
              <a:rPr sz="2000" b="0" i="0">
                <a:solidFill>
                  <a:srgbClr val="8A929C"/>
                </a:solidFill>
                <a:latin typeface="Inter Medium"/>
              </a:rPr>
              <a:t> 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1583" y="2679191"/>
            <a:ext cx="3541471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detection latency, replay of a 30 s attack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(make replay, seed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1583" y="3429000"/>
            <a:ext cx="3541471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300" b="0" i="0">
                <a:solidFill>
                  <a:srgbClr val="E6E8EB"/>
                </a:solidFill>
                <a:latin typeface="Inter"/>
              </a:rPr>
              <a:t>Opened </a:t>
            </a:r>
            <a:r>
              <a:rPr sz="1300" b="0" i="0">
                <a:solidFill>
                  <a:srgbClr val="E8590C"/>
                </a:solidFill>
                <a:latin typeface="JetBrains Mono SemiBold"/>
              </a:rPr>
              <a:t>HIGH</a:t>
            </a:r>
            <a:r>
              <a:rPr sz="1300" b="0" i="0">
                <a:solidFill>
                  <a:srgbClr val="E6E8EB"/>
                </a:solidFill>
                <a:latin typeface="Inter"/>
              </a:rPr>
              <a:t> in the first bucket already naming the IP; peaked </a:t>
            </a:r>
            <a:r>
              <a:rPr sz="1300" b="0" i="0">
                <a:solidFill>
                  <a:srgbClr val="E03131"/>
                </a:solidFill>
                <a:latin typeface="JetBrains Mono SemiBold"/>
              </a:rPr>
              <a:t>CRITICAL</a:t>
            </a:r>
            <a:r>
              <a:rPr sz="1300" b="0" i="0">
                <a:solidFill>
                  <a:srgbClr val="E6E8EB"/>
                </a:solidFill>
                <a:latin typeface="Inter"/>
              </a:rPr>
              <a:t> at z = </a:t>
            </a:r>
            <a:r>
              <a:rPr sz="1300" b="0" i="0">
                <a:solidFill>
                  <a:srgbClr val="E6E8EB"/>
                </a:solidFill>
                <a:latin typeface="JetBrains Mono"/>
              </a:rPr>
              <a:t>23.1</a:t>
            </a:r>
            <a:r>
              <a:rPr sz="1300" b="0" i="0">
                <a:solidFill>
                  <a:srgbClr val="E6E8EB"/>
                </a:solidFill>
                <a:latin typeface="Inter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300" b="0" i="0">
                <a:solidFill>
                  <a:srgbClr val="E6E8EB"/>
                </a:solidFill>
                <a:latin typeface="Inter"/>
              </a:rPr>
              <a:t>“179 failed logins from 10.4.2.17 in the last 60s”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100" b="0" i="0">
                <a:solidFill>
                  <a:srgbClr val="8A929C"/>
                </a:solidFill>
                <a:latin typeface="Inter"/>
              </a:rPr>
              <a:t>Screenshot: the live stack during an injected attack (make incident-auth).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Patient data is masked before any alert leaves the server.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27048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One line from tools/loggen.py, before and after the parser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5364327" cy="3566160"/>
          </a:xfrm>
          <a:prstGeom prst="roundRect">
            <a:avLst>
              <a:gd name="adj" fmla="val 1068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481568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929C"/>
                </a:solidFill>
                <a:latin typeface="JetBrains Mono SemiBold"/>
              </a:rPr>
              <a:t>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50008"/>
            <a:ext cx="4815687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2026-09-28T09:14:03.412Z ERROR member-auth msg="login failed: invalid credentials" req=a6a3a450 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member_id=M1810111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 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name="Aisha Brown"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 plan=MEDICAID-A 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email=priya971@example.com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 ip=10.4.2.17 status=401 latency_ms=54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3675887"/>
            <a:ext cx="4815688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59" y="3813048"/>
            <a:ext cx="481568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929C"/>
                </a:solidFill>
                <a:latin typeface="JetBrains Mono SemiBold"/>
              </a:rPr>
              <a:t>MASKED  (ingest/masking.py)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59935"/>
            <a:ext cx="4815687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2026-09-28T09:14:03.412Z ERROR member-auth msg="login failed: invalid credentials" req=a6a3a450 member_id=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&lt;MEMBER_ID&gt;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 name="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&lt;NAME&gt;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" plan=MEDICAID-A email=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&lt;EMAIL&gt;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 ip=10.4.2.17 status=401 latency_ms=54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527048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The alert read back from SNS by tools/sns_tail.py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74519"/>
            <a:ext cx="5364327" cy="3566160"/>
          </a:xfrm>
          <a:prstGeom prst="roundRect">
            <a:avLst>
              <a:gd name="adj" fmla="val 1068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53047" y="2103120"/>
            <a:ext cx="481568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929C"/>
                </a:solidFill>
                <a:latin typeface="JetBrains Mono SemiBold"/>
              </a:rPr>
              <a:t>SNS → SQS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350008"/>
            <a:ext cx="4815687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SNS MessageId </a:t>
            </a:r>
            <a:r>
              <a:rPr sz="1100" b="0" i="0">
                <a:solidFill>
                  <a:srgbClr val="E6E8EB"/>
                </a:solidFill>
                <a:latin typeface="JetBrains Mono"/>
              </a:rPr>
              <a:t>95cf7d28-420e-40d7-9b49-89e703c1bc78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Subject: [</a:t>
            </a:r>
            <a:r>
              <a:rPr sz="1100" b="0" i="0">
                <a:solidFill>
                  <a:srgbClr val="E8590C"/>
                </a:solidFill>
                <a:latin typeface="JetBrains Mono SemiBold"/>
              </a:rPr>
              <a:t>HIGH</a:t>
            </a:r>
            <a:r>
              <a:rPr sz="1100" b="0" i="0">
                <a:solidFill>
                  <a:srgbClr val="E6E8EB"/>
                </a:solidFill>
                <a:latin typeface="JetBrains Mono"/>
              </a:rPr>
              <a:t>] ClaimsWatch: 71% of errors come from claim-adjudication: DB connection timeout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Publisher: </a:t>
            </a:r>
            <a:r>
              <a:rPr sz="1100" b="0" i="0">
                <a:solidFill>
                  <a:srgbClr val="E6E8EB"/>
                </a:solidFill>
                <a:latin typeface="JetBrains Mono"/>
              </a:rPr>
              <a:t>sns sent, id 95cf7d28…; cloudwatch sent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53047" y="3675887"/>
            <a:ext cx="4815688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53047" y="3813048"/>
            <a:ext cx="481568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929C"/>
                </a:solidFill>
                <a:latin typeface="JetBrains Mono SemiBold"/>
              </a:rPr>
              <a:t>sample_lines[0]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4059935"/>
            <a:ext cx="4815687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JetBrains Mono"/>
              </a:rPr>
              <a:t>2026-09-28T09:08:19.883Z ERROR claim-adjudication msg="DB connection timeout" req=b80aea2a member_id=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&lt;MEMBER_ID&gt;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 name="</a:t>
            </a:r>
            <a:r>
              <a:rPr sz="1100" b="0" i="0">
                <a:solidFill>
                  <a:srgbClr val="E6E8EB"/>
                </a:solidFill>
                <a:latin typeface="JetBrains Mono SemiBold"/>
              </a:rPr>
              <a:t>&lt;NAME&gt;</a:t>
            </a:r>
            <a:r>
              <a:rPr sz="1100" b="0" i="0">
                <a:solidFill>
                  <a:srgbClr val="8A929C"/>
                </a:solidFill>
                <a:latin typeface="JetBrains Mono"/>
              </a:rPr>
              <a:t>" plan=MEDICAID-B pool=claims-primary ip=10.1.78.45 status=503 latency_ms=5049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59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i="0">
                <a:solidFill>
                  <a:srgbClr val="8A929C"/>
                </a:solidFill>
                <a:latin typeface="Inter"/>
              </a:rPr>
              <a:t>Member IDs, names, dates of birth, e-mails, SSNs and phone numbers are tagged in the parser; nothing downstream sees them.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i="0">
                <a:solidFill>
                  <a:srgbClr val="8A929C"/>
                </a:solidFill>
                <a:latin typeface="Inter"/>
              </a:rPr>
              <a:t>Right: the production AlertPublisher sent the replayed outage alert to moto_server; tools/sns_tail.py read it back via SNS → SQS.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E6E8EB"/>
                </a:solidFill>
                <a:latin typeface="Inter SemiBold"/>
              </a:rPr>
              <a:t>Across </a:t>
            </a:r>
            <a:r>
              <a:rPr sz="2800" b="0" i="0">
                <a:solidFill>
                  <a:srgbClr val="E6E8EB"/>
                </a:solidFill>
                <a:latin typeface="JetBrains Mono SemiBold"/>
              </a:rPr>
              <a:t>18</a:t>
            </a:r>
            <a:r>
              <a:rPr sz="2800" b="0" i="0">
                <a:solidFill>
                  <a:srgbClr val="E6E8EB"/>
                </a:solidFill>
                <a:latin typeface="Inter SemiBold"/>
              </a:rPr>
              <a:t> replayed incidents: all detected in </a:t>
            </a:r>
            <a:r>
              <a:rPr sz="2800" b="0" i="0">
                <a:solidFill>
                  <a:srgbClr val="E6E8EB"/>
                </a:solidFill>
                <a:latin typeface="JetBrains Mono SemiBold"/>
              </a:rPr>
              <a:t>10</a:t>
            </a:r>
            <a:r>
              <a:rPr sz="2800" b="0" i="0">
                <a:solidFill>
                  <a:srgbClr val="E6E8EB"/>
                </a:solidFill>
                <a:latin typeface="Inter SemiBold"/>
              </a:rPr>
              <a:t>–</a:t>
            </a:r>
            <a:r>
              <a:rPr sz="2800" b="0" i="0">
                <a:solidFill>
                  <a:srgbClr val="E6E8EB"/>
                </a:solidFill>
                <a:latin typeface="JetBrains Mono SemiBold"/>
              </a:rPr>
              <a:t>20</a:t>
            </a:r>
            <a:r>
              <a:rPr sz="2800" b="0" i="0">
                <a:solidFill>
                  <a:srgbClr val="E6E8EB"/>
                </a:solidFill>
                <a:latin typeface="Inter SemiBold"/>
              </a:rPr>
              <a:t> seconds, with </a:t>
            </a:r>
            <a:r>
              <a:rPr sz="2800" b="0" i="0">
                <a:solidFill>
                  <a:srgbClr val="E6E8EB"/>
                </a:solidFill>
                <a:latin typeface="JetBrains Mono SemiBold"/>
              </a:rPr>
              <a:t>0</a:t>
            </a:r>
            <a:r>
              <a:rPr sz="2800" b="0" i="0">
                <a:solidFill>
                  <a:srgbClr val="E6E8EB"/>
                </a:solidFill>
                <a:latin typeface="Inter SemiBold"/>
              </a:rPr>
              <a:t> false alarms.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55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Detection latency per replay seed (tools/replay.py --seed N, 20-minute scenario each)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94415" cy="1901952"/>
          </a:xfrm>
          <a:prstGeom prst="roundRect">
            <a:avLst>
              <a:gd name="adj" fmla="val 200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8A929C"/>
                </a:solidFill>
                <a:latin typeface="Inter Medium"/>
              </a:rPr>
              <a:t>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8232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585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6938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6291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5644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4996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4349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3702" y="2103120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A929C"/>
                </a:solidFill>
                <a:latin typeface="JetBrains Mono"/>
              </a:rPr>
              <a:t>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578608"/>
            <a:ext cx="11094415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2578608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E6E8EB"/>
                </a:solidFill>
                <a:latin typeface="Inter Medium"/>
              </a:rPr>
              <a:t>db-outage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20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8232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20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585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20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6938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6291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5644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20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4996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20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4349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20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23702" y="2578608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20 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054096"/>
            <a:ext cx="11094415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3054096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E6E8EB"/>
                </a:solidFill>
                <a:latin typeface="Inter Medium"/>
              </a:rPr>
              <a:t>cred-stuffing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8232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585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6938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6291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5644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4996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4349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3702" y="3054096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10 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3529584"/>
            <a:ext cx="11094415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3529584"/>
            <a:ext cx="1645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E6E8EB"/>
                </a:solidFill>
                <a:latin typeface="Inter Medium"/>
              </a:rPr>
              <a:t>False alarms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88232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585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26938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6291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5644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84996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4349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23702" y="3529584"/>
            <a:ext cx="1019352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462272"/>
            <a:ext cx="557784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0" i="0">
                <a:solidFill>
                  <a:srgbClr val="E6E8EB"/>
                </a:solidFill>
                <a:latin typeface="Inter"/>
              </a:rPr>
              <a:t>Every incident peaked </a:t>
            </a:r>
            <a:r>
              <a:rPr sz="1400" b="0" i="0">
                <a:solidFill>
                  <a:srgbClr val="E03131"/>
                </a:solidFill>
                <a:latin typeface="JetBrains Mono SemiBold"/>
              </a:rPr>
              <a:t>CRITICAL</a:t>
            </a:r>
            <a:r>
              <a:rPr sz="1400" b="0" i="0">
                <a:solidFill>
                  <a:srgbClr val="E6E8EB"/>
                </a:solidFill>
                <a:latin typeface="Inter"/>
              </a:rPr>
              <a:t>; each run replays the production parser and detector on a simulated clock.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00" b="0" i="0">
                <a:solidFill>
                  <a:srgbClr val="E6E8EB"/>
                </a:solidFill>
                <a:latin typeface="JetBrains Mono"/>
              </a:rPr>
              <a:t>150</a:t>
            </a:r>
            <a:r>
              <a:rPr sz="1400" b="0" i="0">
                <a:solidFill>
                  <a:srgbClr val="E6E8EB"/>
                </a:solidFill>
                <a:latin typeface="Inter"/>
              </a:rPr>
              <a:t> backend tests (pytest) and </a:t>
            </a:r>
            <a:r>
              <a:rPr sz="1400" b="0" i="0">
                <a:solidFill>
                  <a:srgbClr val="E6E8EB"/>
                </a:solidFill>
                <a:latin typeface="JetBrains Mono"/>
              </a:rPr>
              <a:t>87</a:t>
            </a:r>
            <a:r>
              <a:rPr sz="1400" b="0" i="0">
                <a:solidFill>
                  <a:srgbClr val="E6E8EB"/>
                </a:solidFill>
                <a:latin typeface="Inter"/>
              </a:rPr>
              <a:t> frontend tests (Vitest) pass.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79" y="4462272"/>
            <a:ext cx="5059375" cy="1143000"/>
          </a:xfrm>
          <a:prstGeom prst="roundRect">
            <a:avLst>
              <a:gd name="adj" fmla="val 3333"/>
            </a:avLst>
          </a:prstGeom>
          <a:solidFill>
            <a:srgbClr val="171B21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857999" y="4663440"/>
            <a:ext cx="451073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929C"/>
                </a:solidFill>
                <a:latin typeface="Inter Medium"/>
              </a:rPr>
              <a:t>Code, tests and docs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7999" y="4965192"/>
            <a:ext cx="451073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6E8EB"/>
                </a:solidFill>
                <a:latin typeface="JetBrains Mono SemiBold"/>
              </a:rPr>
              <a:t>github.com/panshularora/Acentra_HackForgeAI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github.com/panshularora/Acentra_HackForgeAI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4255" y="64739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8A929C"/>
                </a:solidFill>
                <a:latin typeface="JetBrains Mono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ClaimsWatch</dc:title>
  <dc:subject/>
  <dc:creator>Panshul Arora, Naman Rai, Aarati Deshmukh, Aaditey Nim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