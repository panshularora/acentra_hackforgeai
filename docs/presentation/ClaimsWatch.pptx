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4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8A929C"/>
                </a:solidFill>
                <a:latin typeface="Inter Medium"/>
              </a:rPr>
              <a:t>ClaimsWatch  ·  Acentra Health “Build to Care” code-a-thon  ·  28 Sep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800" b="0" i="0">
                <a:solidFill>
                  <a:srgbClr val="E6E8EB"/>
                </a:solidFill>
                <a:latin typeface="Inter SemiBold"/>
              </a:rPr>
              <a:t>When a Medicaid eligibility service fails, a patient can be turned away at the pharmacy.</a:t>
            </a:r>
          </a:p>
        </p:txBody>
      </p:sp>
      <p:pic>
        <p:nvPicPr>
          <p:cNvPr id="4" name="Picture 3" descr="dashboard-normal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699455" y="1874519"/>
            <a:ext cx="5943600" cy="3714750"/>
          </a:xfrm>
          <a:prstGeom prst="rect">
            <a:avLst/>
          </a:prstGeom>
          <a:ln w="9525">
            <a:solidFill>
              <a:srgbClr val="262B33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548640" y="1874519"/>
            <a:ext cx="4739335" cy="274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1400"/>
              </a:spcAft>
            </a:pPr>
            <a:r>
              <a:rPr sz="1500" b="0" i="0">
                <a:solidFill>
                  <a:srgbClr val="E6E8EB"/>
                </a:solidFill>
                <a:latin typeface="Inter"/>
              </a:rPr>
              <a:t>Acentra Health formed in </a:t>
            </a:r>
            <a:r>
              <a:rPr sz="1500" b="0" i="0">
                <a:solidFill>
                  <a:srgbClr val="E6E8EB"/>
                </a:solidFill>
                <a:latin typeface="JetBrains Mono"/>
              </a:rPr>
              <a:t>2023</a:t>
            </a:r>
            <a:r>
              <a:rPr sz="1500" b="0" i="0">
                <a:solidFill>
                  <a:srgbClr val="E6E8EB"/>
                </a:solidFill>
                <a:latin typeface="Inter"/>
              </a:rPr>
              <a:t> from the merger of CNSI and Kepro, with about </a:t>
            </a:r>
            <a:r>
              <a:rPr sz="1500" b="0" i="0">
                <a:solidFill>
                  <a:srgbClr val="E6E8EB"/>
                </a:solidFill>
                <a:latin typeface="JetBrains Mono"/>
              </a:rPr>
              <a:t>3,300</a:t>
            </a:r>
            <a:r>
              <a:rPr sz="1500" b="0" i="0">
                <a:solidFill>
                  <a:srgbClr val="E6E8EB"/>
                </a:solidFill>
                <a:latin typeface="Inter"/>
              </a:rPr>
              <a:t> employees and an office in Chennai.</a:t>
            </a:r>
          </a:p>
          <a:p>
            <a:pPr algn="l">
              <a:lnSpc>
                <a:spcPct val="120000"/>
              </a:lnSpc>
              <a:spcAft>
                <a:spcPts val="1400"/>
              </a:spcAft>
            </a:pPr>
            <a:r>
              <a:rPr sz="1500" b="0" i="0">
                <a:solidFill>
                  <a:srgbClr val="E6E8EB"/>
                </a:solidFill>
                <a:latin typeface="Inter"/>
              </a:rPr>
              <a:t>An AWS Advanced Partner, it runs evoBrix X, a cloud-based Medicaid claims platform.</a:t>
            </a:r>
          </a:p>
          <a:p>
            <a:pPr algn="l">
              <a:lnSpc>
                <a:spcPct val="120000"/>
              </a:lnSpc>
              <a:spcAft>
                <a:spcPts val="1400"/>
              </a:spcAft>
            </a:pPr>
            <a:r>
              <a:rPr sz="1500" b="0" i="0">
                <a:solidFill>
                  <a:srgbClr val="E6E8EB"/>
                </a:solidFill>
                <a:latin typeface="Inter"/>
              </a:rPr>
              <a:t>ClaimsWatch watches claims-service logs and tells on-call what broke, and where, within seconds.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30902"/>
            <a:ext cx="473933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8A929C"/>
                </a:solidFill>
                <a:latin typeface="Inter Medium"/>
              </a:rPr>
              <a:t>Team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177790"/>
            <a:ext cx="4739335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E6E8EB"/>
                </a:solidFill>
                <a:latin typeface="Inter Medium"/>
              </a:rPr>
              <a:t>Panshul Arora · Naman Rai · Aarati Deshmukh · Aaditey Nim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14476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 i="0">
                <a:solidFill>
                  <a:srgbClr val="8A929C"/>
                </a:solidFill>
                <a:latin typeface="JetBrains Mono"/>
              </a:rPr>
              <a:t>Sources: acentra.com/about-us  ·  acentra.com/technologies/evobrix-x  ·  aws.amazon.com/blogs/publicsector/acentra-health-processes-35m-medicare-documents-50-faster-with-idp-on-aws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73952"/>
            <a:ext cx="640080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8A929C"/>
                </a:solidFill>
                <a:latin typeface="JetBrains Mono"/>
              </a:rPr>
              <a:t>github.com/panshularora/Acentra_HackForgeAI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14255" y="6473952"/>
            <a:ext cx="182880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8A929C"/>
                </a:solidFill>
                <a:latin typeface="JetBrains Mono"/>
              </a:rPr>
              <a:t>1 / 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4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800" b="0" i="0">
                <a:solidFill>
                  <a:srgbClr val="E6E8EB"/>
                </a:solidFill>
                <a:latin typeface="Inter SemiBold"/>
              </a:rPr>
              <a:t>Error-rate alerts tell the on-call engineer that something broke, but not what broke or where.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01368"/>
            <a:ext cx="5364327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8A929C"/>
                </a:solidFill>
                <a:latin typeface="Inter Medium"/>
              </a:rPr>
              <a:t>A typical error-rate alarm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148840"/>
            <a:ext cx="5364327" cy="3246120"/>
          </a:xfrm>
          <a:prstGeom prst="roundRect">
            <a:avLst>
              <a:gd name="adj" fmla="val 1173"/>
            </a:avLst>
          </a:prstGeom>
          <a:solidFill>
            <a:srgbClr val="171B21"/>
          </a:solidFill>
          <a:ln w="9525">
            <a:solidFill>
              <a:srgbClr val="262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68680" y="2468880"/>
            <a:ext cx="4724247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E6E8EB"/>
                </a:solidFill>
                <a:latin typeface="JetBrains Mono SemiBold"/>
              </a:rPr>
              <a:t>ALARM  ErrorRate above threshold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017520"/>
            <a:ext cx="4724247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400" b="0" i="0">
                <a:solidFill>
                  <a:srgbClr val="E6E8EB"/>
                </a:solidFill>
                <a:latin typeface="Inter SemiBold"/>
              </a:rPr>
              <a:t>Error rate </a:t>
            </a:r>
            <a:r>
              <a:rPr sz="2400" b="0" i="0">
                <a:solidFill>
                  <a:srgbClr val="E6E8EB"/>
                </a:solidFill>
                <a:latin typeface="JetBrains Mono SemiBold"/>
              </a:rPr>
              <a:t>7.1%</a:t>
            </a:r>
            <a:r>
              <a:rPr sz="2400" b="0" i="0">
                <a:solidFill>
                  <a:srgbClr val="E6E8EB"/>
                </a:solidFill>
                <a:latin typeface="Inter SemiBold"/>
              </a:rPr>
              <a:t>, </a:t>
            </a:r>
            <a:r>
              <a:rPr sz="2400" b="0" i="0">
                <a:solidFill>
                  <a:srgbClr val="E6E8EB"/>
                </a:solidFill>
                <a:latin typeface="JetBrains Mono SemiBold"/>
              </a:rPr>
              <a:t>3.2×</a:t>
            </a:r>
            <a:r>
              <a:rPr sz="2400" b="0" i="0">
                <a:solidFill>
                  <a:srgbClr val="E6E8EB"/>
                </a:solidFill>
                <a:latin typeface="Inter SemiBold"/>
              </a:rPr>
              <a:t> normal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4434840"/>
            <a:ext cx="4724247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8A929C"/>
                </a:solidFill>
                <a:latin typeface="Inter"/>
              </a:rPr>
              <a:t>Which service? Which error? Which client?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8A929C"/>
                </a:solidFill>
                <a:latin typeface="Inter"/>
              </a:rPr>
              <a:t>The engineer starts digging through logs.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78727" y="1801368"/>
            <a:ext cx="5364327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8A929C"/>
                </a:solidFill>
                <a:latin typeface="Inter Medium"/>
              </a:rPr>
              <a:t>The ClaimsWatch alert for the same incident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2148840"/>
            <a:ext cx="5364327" cy="3246120"/>
          </a:xfrm>
          <a:prstGeom prst="roundRect">
            <a:avLst>
              <a:gd name="adj" fmla="val 1173"/>
            </a:avLst>
          </a:prstGeom>
          <a:solidFill>
            <a:srgbClr val="171B21"/>
          </a:solidFill>
          <a:ln w="9525">
            <a:solidFill>
              <a:srgbClr val="262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6278727" y="2148840"/>
            <a:ext cx="45720" cy="3246120"/>
          </a:xfrm>
          <a:prstGeom prst="rect">
            <a:avLst/>
          </a:prstGeom>
          <a:solidFill>
            <a:srgbClr val="E031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98767" y="2478024"/>
            <a:ext cx="1097280" cy="256032"/>
          </a:xfrm>
          <a:prstGeom prst="roundRect">
            <a:avLst>
              <a:gd name="adj" fmla="val 14880"/>
            </a:avLst>
          </a:prstGeom>
          <a:noFill/>
          <a:ln w="11430">
            <a:solidFill>
              <a:srgbClr val="E031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>
                <a:solidFill>
                  <a:srgbClr val="E03131"/>
                </a:solidFill>
                <a:latin typeface="JetBrains Mono SemiBold"/>
              </a:rPr>
              <a:t>CRITICAL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98767" y="2971800"/>
            <a:ext cx="4724247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200" b="0" i="0">
                <a:solidFill>
                  <a:srgbClr val="E6E8EB"/>
                </a:solidFill>
                <a:latin typeface="Inter SemiBold"/>
              </a:rPr>
              <a:t>82% of errors come from claim‑adjudication: DB connection timeout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8767" y="4434840"/>
            <a:ext cx="4724247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 i="0">
                <a:solidFill>
                  <a:srgbClr val="8A929C"/>
                </a:solidFill>
                <a:latin typeface="Inter"/>
              </a:rPr>
              <a:t>Peak z-score  </a:t>
            </a:r>
            <a:r>
              <a:rPr sz="1300" b="0" i="0">
                <a:solidFill>
                  <a:srgbClr val="E6E8EB"/>
                </a:solidFill>
                <a:latin typeface="JetBrains Mono"/>
              </a:rPr>
              <a:t>16.4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 i="0">
                <a:solidFill>
                  <a:srgbClr val="8A929C"/>
                </a:solidFill>
                <a:latin typeface="Inter"/>
              </a:rPr>
              <a:t>Peak error rate  </a:t>
            </a:r>
            <a:r>
              <a:rPr sz="1300" b="0" i="0">
                <a:solidFill>
                  <a:srgbClr val="E6E8EB"/>
                </a:solidFill>
                <a:latin typeface="JetBrains Mono"/>
              </a:rPr>
              <a:t>7.1% vs 2.2%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715000"/>
            <a:ext cx="11094415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8A929C"/>
                </a:solidFill>
                <a:latin typeface="Inter"/>
              </a:rPr>
              <a:t>Both built from the same replayed database outage (</a:t>
            </a:r>
            <a:r>
              <a:rPr sz="1300" b="0" i="0">
                <a:solidFill>
                  <a:srgbClr val="8A929C"/>
                </a:solidFill>
                <a:latin typeface="JetBrains Mono"/>
              </a:rPr>
              <a:t>make replay</a:t>
            </a:r>
            <a:r>
              <a:rPr sz="1300" b="0" i="0">
                <a:solidFill>
                  <a:srgbClr val="8A929C"/>
                </a:solidFill>
                <a:latin typeface="Inter"/>
              </a:rPr>
              <a:t>, seed </a:t>
            </a:r>
            <a:r>
              <a:rPr sz="1300" b="0" i="0">
                <a:solidFill>
                  <a:srgbClr val="8A929C"/>
                </a:solidFill>
                <a:latin typeface="JetBrains Mono"/>
              </a:rPr>
              <a:t>2026</a:t>
            </a:r>
            <a:r>
              <a:rPr sz="1300" b="0" i="0">
                <a:solidFill>
                  <a:srgbClr val="8A929C"/>
                </a:solidFill>
                <a:latin typeface="Inter"/>
              </a:rPr>
              <a:t>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73952"/>
            <a:ext cx="640080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8A929C"/>
                </a:solidFill>
                <a:latin typeface="JetBrains Mono"/>
              </a:rPr>
              <a:t>github.com/panshularora/Acentra_HackForgeAI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14255" y="6473952"/>
            <a:ext cx="182880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8A929C"/>
                </a:solidFill>
                <a:latin typeface="JetBrains Mono"/>
              </a:rPr>
              <a:t>2 /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4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800" b="0" i="0">
                <a:solidFill>
                  <a:srgbClr val="E6E8EB"/>
                </a:solidFill>
                <a:latin typeface="Inter SemiBold"/>
              </a:rPr>
              <a:t>Our detector learns normal behaviour from the log itself and flags errors that rise well above it.</a:t>
            </a:r>
          </a:p>
        </p:txBody>
      </p:sp>
      <p:pic>
        <p:nvPicPr>
          <p:cNvPr id="3" name="Picture 2" descr="dashboard-db-outage.png"/>
          <p:cNvPicPr>
            <a:picLocks noChangeAspect="1"/>
          </p:cNvPicPr>
          <p:nvPr/>
        </p:nvPicPr>
        <p:blipFill>
          <a:blip r:embed="rId2"/>
          <a:srcRect l="1172" t="20000" r="34473" b="1875"/>
          <a:stretch>
            <a:fillRect/>
          </a:stretch>
        </p:blipFill>
        <p:spPr>
          <a:xfrm>
            <a:off x="548640" y="1783080"/>
            <a:ext cx="5724601" cy="4343400"/>
          </a:xfrm>
          <a:prstGeom prst="rect">
            <a:avLst/>
          </a:prstGeom>
          <a:ln w="9525">
            <a:solidFill>
              <a:srgbClr val="262B33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6730441" y="1783080"/>
            <a:ext cx="4912614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8A929C"/>
                </a:solidFill>
                <a:latin typeface="Inter Medium"/>
              </a:rPr>
              <a:t>Modified z-score (Iglewicz &amp; Hoaglin, 1993)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730441" y="2093976"/>
            <a:ext cx="4912614" cy="868680"/>
          </a:xfrm>
          <a:prstGeom prst="roundRect">
            <a:avLst>
              <a:gd name="adj" fmla="val 4385"/>
            </a:avLst>
          </a:prstGeom>
          <a:solidFill>
            <a:srgbClr val="171B21"/>
          </a:solidFill>
          <a:ln w="9525">
            <a:solidFill>
              <a:srgbClr val="262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730441" y="2093976"/>
            <a:ext cx="4912614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500" b="0" i="0">
                <a:solidFill>
                  <a:srgbClr val="E6E8EB"/>
                </a:solidFill>
                <a:latin typeface="JetBrains Mono SemiBold"/>
              </a:rPr>
              <a:t>score = 0.6745 × (rate − median) / MAD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0441" y="3246120"/>
            <a:ext cx="4912614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8A929C"/>
                </a:solidFill>
                <a:latin typeface="Inter Medium"/>
              </a:rPr>
              <a:t>Severity thresholds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30441" y="3593591"/>
            <a:ext cx="982980" cy="256032"/>
          </a:xfrm>
          <a:prstGeom prst="roundRect">
            <a:avLst>
              <a:gd name="adj" fmla="val 14880"/>
            </a:avLst>
          </a:prstGeom>
          <a:noFill/>
          <a:ln w="11430">
            <a:solidFill>
              <a:srgbClr val="E0A1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>
                <a:solidFill>
                  <a:srgbClr val="E0A100"/>
                </a:solidFill>
                <a:latin typeface="JetBrains Mono SemiBold"/>
              </a:rPr>
              <a:t>WARNING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56321" y="358444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E6E8EB"/>
                </a:solidFill>
                <a:latin typeface="JetBrains Mono"/>
              </a:rPr>
              <a:t>score ≥ 3.5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30441" y="3995928"/>
            <a:ext cx="640080" cy="256032"/>
          </a:xfrm>
          <a:prstGeom prst="roundRect">
            <a:avLst>
              <a:gd name="adj" fmla="val 14880"/>
            </a:avLst>
          </a:prstGeom>
          <a:noFill/>
          <a:ln w="11430">
            <a:solidFill>
              <a:srgbClr val="E859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>
                <a:solidFill>
                  <a:srgbClr val="E8590C"/>
                </a:solidFill>
                <a:latin typeface="JetBrains Mono SemiBold"/>
              </a:rPr>
              <a:t>HIGH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56321" y="3986784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E6E8EB"/>
                </a:solidFill>
                <a:latin typeface="JetBrains Mono"/>
              </a:rPr>
              <a:t>score ≥ 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30441" y="4398264"/>
            <a:ext cx="1097280" cy="256032"/>
          </a:xfrm>
          <a:prstGeom prst="roundRect">
            <a:avLst>
              <a:gd name="adj" fmla="val 14880"/>
            </a:avLst>
          </a:prstGeom>
          <a:noFill/>
          <a:ln w="11430">
            <a:solidFill>
              <a:srgbClr val="E031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>
                <a:solidFill>
                  <a:srgbClr val="E03131"/>
                </a:solidFill>
                <a:latin typeface="JetBrains Mono SemiBold"/>
              </a:rPr>
              <a:t>CRITICAL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56321" y="43891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E6E8EB"/>
                </a:solidFill>
                <a:latin typeface="JetBrains Mono"/>
              </a:rPr>
              <a:t>score ≥ 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30441" y="4910328"/>
            <a:ext cx="4912614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300" b="0" i="0">
                <a:solidFill>
                  <a:srgbClr val="8A929C"/>
                </a:solidFill>
                <a:latin typeface="Inter"/>
              </a:rPr>
              <a:t>Median and MAD of the last </a:t>
            </a:r>
            <a:r>
              <a:rPr sz="1300" b="0" i="0">
                <a:solidFill>
                  <a:srgbClr val="8A929C"/>
                </a:solidFill>
                <a:latin typeface="JetBrains Mono"/>
              </a:rPr>
              <a:t>30</a:t>
            </a:r>
            <a:r>
              <a:rPr sz="1300" b="0" i="0">
                <a:solidFill>
                  <a:srgbClr val="8A929C"/>
                </a:solidFill>
                <a:latin typeface="Inter"/>
              </a:rPr>
              <a:t> window error rates, so one past spike barely moves them.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300" b="0" i="0">
                <a:solidFill>
                  <a:srgbClr val="8A929C"/>
                </a:solidFill>
                <a:latin typeface="JetBrains Mono"/>
              </a:rPr>
              <a:t>3.5</a:t>
            </a:r>
            <a:r>
              <a:rPr sz="1300" b="0" i="0">
                <a:solidFill>
                  <a:srgbClr val="8A929C"/>
                </a:solidFill>
                <a:latin typeface="Inter"/>
              </a:rPr>
              <a:t> is the published outlier cut-off; </a:t>
            </a:r>
            <a:r>
              <a:rPr sz="1300" b="0" i="0">
                <a:solidFill>
                  <a:srgbClr val="8A929C"/>
                </a:solidFill>
                <a:latin typeface="JetBrains Mono"/>
              </a:rPr>
              <a:t>5</a:t>
            </a:r>
            <a:r>
              <a:rPr sz="1300" b="0" i="0">
                <a:solidFill>
                  <a:srgbClr val="8A929C"/>
                </a:solidFill>
                <a:latin typeface="Inter"/>
              </a:rPr>
              <a:t> and </a:t>
            </a:r>
            <a:r>
              <a:rPr sz="1300" b="0" i="0">
                <a:solidFill>
                  <a:srgbClr val="8A929C"/>
                </a:solidFill>
                <a:latin typeface="JetBrains Mono"/>
              </a:rPr>
              <a:t>8</a:t>
            </a:r>
            <a:r>
              <a:rPr sz="1300" b="0" i="0">
                <a:solidFill>
                  <a:srgbClr val="8A929C"/>
                </a:solidFill>
                <a:latin typeface="Inter"/>
              </a:rPr>
              <a:t> are our escalation steps.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73952"/>
            <a:ext cx="640080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8A929C"/>
                </a:solidFill>
                <a:latin typeface="JetBrains Mono"/>
              </a:rPr>
              <a:t>github.com/panshularora/Acentra_HackForgeAI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14255" y="6473952"/>
            <a:ext cx="182880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8A929C"/>
                </a:solidFill>
                <a:latin typeface="JetBrains Mono"/>
              </a:rPr>
              <a:t>3 /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4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800" b="0" i="0">
                <a:solidFill>
                  <a:srgbClr val="E6E8EB"/>
                </a:solidFill>
                <a:latin typeface="Inter SemiBold"/>
              </a:rPr>
              <a:t>From one log line to one alert, in six stages.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600200"/>
            <a:ext cx="1970166" cy="1828800"/>
          </a:xfrm>
          <a:prstGeom prst="roundRect">
            <a:avLst>
              <a:gd name="adj" fmla="val 2083"/>
            </a:avLst>
          </a:prstGeom>
          <a:solidFill>
            <a:srgbClr val="171B21"/>
          </a:solidFill>
          <a:ln w="9525">
            <a:solidFill>
              <a:srgbClr val="262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13232" y="1746504"/>
            <a:ext cx="1640982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8A929C"/>
                </a:solidFill>
                <a:latin typeface="JetBrains Mono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984248"/>
            <a:ext cx="1640982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 i="0">
                <a:solidFill>
                  <a:srgbClr val="E6E8EB"/>
                </a:solidFill>
                <a:latin typeface="Inter SemiBold"/>
              </a:rPr>
              <a:t>Tail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313432"/>
            <a:ext cx="1640982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8A929C"/>
                </a:solidFill>
                <a:latin typeface="JetBrains Mono"/>
              </a:rPr>
              <a:t>ingest/tailer.py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587752"/>
            <a:ext cx="1640982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E6E8EB"/>
                </a:solidFill>
                <a:latin typeface="Inter"/>
              </a:rPr>
              <a:t>Polls app.log every 250 ms; survives truncation and rotation.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29702" y="1600200"/>
            <a:ext cx="1970166" cy="1828800"/>
          </a:xfrm>
          <a:prstGeom prst="roundRect">
            <a:avLst>
              <a:gd name="adj" fmla="val 2083"/>
            </a:avLst>
          </a:prstGeom>
          <a:solidFill>
            <a:srgbClr val="171B21"/>
          </a:solidFill>
          <a:ln w="9525">
            <a:solidFill>
              <a:srgbClr val="262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2994294" y="1746504"/>
            <a:ext cx="1640982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8A929C"/>
                </a:solidFill>
                <a:latin typeface="JetBrains Mono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94294" y="1984248"/>
            <a:ext cx="1640982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 i="0">
                <a:solidFill>
                  <a:srgbClr val="E6E8EB"/>
                </a:solidFill>
                <a:latin typeface="Inter SemiBold"/>
              </a:rPr>
              <a:t>Parse + mask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94294" y="2313432"/>
            <a:ext cx="1640982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8A929C"/>
                </a:solidFill>
                <a:latin typeface="JetBrains Mono"/>
              </a:rPr>
              <a:t>ingest/parser.py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94294" y="2587752"/>
            <a:ext cx="1640982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E6E8EB"/>
                </a:solidFill>
                <a:latin typeface="Inter"/>
              </a:rPr>
              <a:t>PHI is masked before any field is extracted.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55382" y="2514600"/>
            <a:ext cx="237744" cy="0"/>
          </a:xfrm>
          <a:prstGeom prst="line">
            <a:avLst/>
          </a:prstGeom>
          <a:ln w="15875">
            <a:solidFill>
              <a:srgbClr val="8A929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110764" y="1600200"/>
            <a:ext cx="1970166" cy="1828800"/>
          </a:xfrm>
          <a:prstGeom prst="roundRect">
            <a:avLst>
              <a:gd name="adj" fmla="val 2083"/>
            </a:avLst>
          </a:prstGeom>
          <a:solidFill>
            <a:srgbClr val="171B21"/>
          </a:solidFill>
          <a:ln w="9525">
            <a:solidFill>
              <a:srgbClr val="262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275356" y="1746504"/>
            <a:ext cx="1640982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8A929C"/>
                </a:solidFill>
                <a:latin typeface="JetBrains Mono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75356" y="1984248"/>
            <a:ext cx="1640982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 i="0">
                <a:solidFill>
                  <a:srgbClr val="E6E8EB"/>
                </a:solidFill>
                <a:latin typeface="Inter SemiBold"/>
              </a:rPr>
              <a:t>Window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75356" y="2313432"/>
            <a:ext cx="1640982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8A929C"/>
                </a:solidFill>
                <a:latin typeface="JetBrains Mono"/>
              </a:rPr>
              <a:t>detection/window.py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75356" y="2587752"/>
            <a:ext cx="1640982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E6E8EB"/>
                </a:solidFill>
                <a:latin typeface="Inter"/>
              </a:rPr>
              <a:t>10 s buckets roll into a 60 s error rate.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36444" y="2514600"/>
            <a:ext cx="237744" cy="0"/>
          </a:xfrm>
          <a:prstGeom prst="line">
            <a:avLst/>
          </a:prstGeom>
          <a:ln w="15875">
            <a:solidFill>
              <a:srgbClr val="8A929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391826" y="1600200"/>
            <a:ext cx="1970166" cy="1828800"/>
          </a:xfrm>
          <a:prstGeom prst="roundRect">
            <a:avLst>
              <a:gd name="adj" fmla="val 2083"/>
            </a:avLst>
          </a:prstGeom>
          <a:solidFill>
            <a:srgbClr val="171B21"/>
          </a:solidFill>
          <a:ln w="9525">
            <a:solidFill>
              <a:srgbClr val="262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556418" y="1746504"/>
            <a:ext cx="1640982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8A929C"/>
                </a:solidFill>
                <a:latin typeface="JetBrains Mono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56418" y="1984248"/>
            <a:ext cx="1640982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 i="0">
                <a:solidFill>
                  <a:srgbClr val="E6E8EB"/>
                </a:solidFill>
                <a:latin typeface="Inter SemiBold"/>
              </a:rPr>
              <a:t>Baseline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56418" y="2313432"/>
            <a:ext cx="1640982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8A929C"/>
                </a:solidFill>
                <a:latin typeface="JetBrains Mono"/>
              </a:rPr>
              <a:t>detection/baseline.py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56418" y="2587752"/>
            <a:ext cx="1640982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E6E8EB"/>
                </a:solidFill>
                <a:latin typeface="Inter"/>
              </a:rPr>
              <a:t>Median and MAD of the last 30 normal rates.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117506" y="2514600"/>
            <a:ext cx="237744" cy="0"/>
          </a:xfrm>
          <a:prstGeom prst="line">
            <a:avLst/>
          </a:prstGeom>
          <a:ln w="15875">
            <a:solidFill>
              <a:srgbClr val="8A929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9672888" y="1600200"/>
            <a:ext cx="1970166" cy="1828800"/>
          </a:xfrm>
          <a:prstGeom prst="roundRect">
            <a:avLst>
              <a:gd name="adj" fmla="val 2083"/>
            </a:avLst>
          </a:prstGeom>
          <a:solidFill>
            <a:srgbClr val="171B21"/>
          </a:solidFill>
          <a:ln w="9525">
            <a:solidFill>
              <a:srgbClr val="262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837480" y="1746504"/>
            <a:ext cx="1640982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8A929C"/>
                </a:solidFill>
                <a:latin typeface="JetBrains Mono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37480" y="1984248"/>
            <a:ext cx="1640982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 i="0">
                <a:solidFill>
                  <a:srgbClr val="E6E8EB"/>
                </a:solidFill>
                <a:latin typeface="Inter SemiBold"/>
              </a:rPr>
              <a:t>Detect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37480" y="2313432"/>
            <a:ext cx="1640982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8A929C"/>
                </a:solidFill>
                <a:latin typeface="JetBrains Mono"/>
              </a:rPr>
              <a:t>detection/detector.py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37480" y="2587752"/>
            <a:ext cx="1640982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E6E8EB"/>
                </a:solidFill>
                <a:latin typeface="Inter"/>
              </a:rPr>
              <a:t>Score and severity; incident opens, updates, resolves.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398568" y="2514600"/>
            <a:ext cx="237744" cy="0"/>
          </a:xfrm>
          <a:prstGeom prst="line">
            <a:avLst/>
          </a:prstGeom>
          <a:ln w="15875">
            <a:solidFill>
              <a:srgbClr val="8A929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0657972" y="3456432"/>
            <a:ext cx="0" cy="356616"/>
          </a:xfrm>
          <a:prstGeom prst="line">
            <a:avLst/>
          </a:prstGeom>
          <a:ln w="15875">
            <a:solidFill>
              <a:srgbClr val="8A929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548640" y="3840480"/>
            <a:ext cx="11094415" cy="2240280"/>
          </a:xfrm>
          <a:prstGeom prst="roundRect">
            <a:avLst>
              <a:gd name="adj" fmla="val 1700"/>
            </a:avLst>
          </a:prstGeom>
          <a:solidFill>
            <a:srgbClr val="111418"/>
          </a:solidFill>
          <a:ln w="9525">
            <a:solidFill>
              <a:srgbClr val="343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777240" y="4023360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8A929C"/>
                </a:solidFill>
                <a:latin typeface="JetBrains Mono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4261104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0" i="0">
                <a:solidFill>
                  <a:srgbClr val="E6E8EB"/>
                </a:solidFill>
                <a:latin typeface="Inter SemiBold"/>
              </a:rPr>
              <a:t>Store and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0" i="0">
                <a:solidFill>
                  <a:srgbClr val="E6E8EB"/>
                </a:solidFill>
                <a:latin typeface="Inter SemiBold"/>
              </a:rPr>
              <a:t>fan out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148840" y="4604004"/>
            <a:ext cx="2240280" cy="713232"/>
          </a:xfrm>
          <a:prstGeom prst="roundRect">
            <a:avLst>
              <a:gd name="adj" fmla="val 5341"/>
            </a:avLst>
          </a:prstGeom>
          <a:solidFill>
            <a:srgbClr val="171B21"/>
          </a:solidFill>
          <a:ln w="9525">
            <a:solidFill>
              <a:srgbClr val="262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2313432" y="4722876"/>
            <a:ext cx="1911096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E6E8EB"/>
                </a:solidFill>
                <a:latin typeface="Inter SemiBold"/>
              </a:rPr>
              <a:t>SQLite alert store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313432" y="5015484"/>
            <a:ext cx="1911096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8A929C"/>
                </a:solidFill>
                <a:latin typeface="JetBrains Mono"/>
              </a:rPr>
              <a:t>alerts/store.py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029200" y="4142232"/>
            <a:ext cx="2926080" cy="713232"/>
          </a:xfrm>
          <a:prstGeom prst="roundRect">
            <a:avLst>
              <a:gd name="adj" fmla="val 5341"/>
            </a:avLst>
          </a:prstGeom>
          <a:solidFill>
            <a:srgbClr val="171B21"/>
          </a:solidFill>
          <a:ln w="9525">
            <a:solidFill>
              <a:srgbClr val="262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5193792" y="4261104"/>
            <a:ext cx="2596896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E6E8EB"/>
                </a:solidFill>
                <a:latin typeface="Inter SemiBold"/>
              </a:rPr>
              <a:t>WebSocket /ws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193792" y="4553712"/>
            <a:ext cx="2596896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8A929C"/>
                </a:solidFill>
                <a:latin typeface="JetBrains Mono"/>
              </a:rPr>
              <a:t>api/ws.py · api/routes.py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029200" y="5065776"/>
            <a:ext cx="2926080" cy="713232"/>
          </a:xfrm>
          <a:prstGeom prst="roundRect">
            <a:avLst>
              <a:gd name="adj" fmla="val 5341"/>
            </a:avLst>
          </a:prstGeom>
          <a:solidFill>
            <a:srgbClr val="171B21"/>
          </a:solidFill>
          <a:ln w="9525">
            <a:solidFill>
              <a:srgbClr val="262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5193792" y="5184648"/>
            <a:ext cx="2596896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E6E8EB"/>
                </a:solidFill>
                <a:latin typeface="Inter SemiBold"/>
              </a:rPr>
              <a:t>AWS publisher (background)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193792" y="5477256"/>
            <a:ext cx="2596896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8A929C"/>
                </a:solidFill>
                <a:latin typeface="JetBrains Mono"/>
              </a:rPr>
              <a:t>alerts/publisher.py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412480" y="4142232"/>
            <a:ext cx="3001975" cy="713232"/>
          </a:xfrm>
          <a:prstGeom prst="roundRect">
            <a:avLst>
              <a:gd name="adj" fmla="val 5341"/>
            </a:avLst>
          </a:prstGeom>
          <a:solidFill>
            <a:srgbClr val="171B21"/>
          </a:solidFill>
          <a:ln w="9525">
            <a:solidFill>
              <a:srgbClr val="262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8577072" y="4261104"/>
            <a:ext cx="2672791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E6E8EB"/>
                </a:solidFill>
                <a:latin typeface="Inter SemiBold"/>
              </a:rPr>
              <a:t>React dashboard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77072" y="4553712"/>
            <a:ext cx="2672791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8A929C"/>
                </a:solidFill>
                <a:latin typeface="JetBrains Mono"/>
              </a:rPr>
              <a:t>frontend/src/App.tsx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412480" y="5065776"/>
            <a:ext cx="3001975" cy="713232"/>
          </a:xfrm>
          <a:prstGeom prst="roundRect">
            <a:avLst>
              <a:gd name="adj" fmla="val 5341"/>
            </a:avLst>
          </a:prstGeom>
          <a:solidFill>
            <a:srgbClr val="171B21"/>
          </a:solidFill>
          <a:ln w="9525">
            <a:solidFill>
              <a:srgbClr val="262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8577072" y="5184648"/>
            <a:ext cx="2672791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E6E8EB"/>
                </a:solidFill>
                <a:latin typeface="Inter SemiBold"/>
              </a:rPr>
              <a:t>SNS + CloudWatch Logs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77072" y="5477256"/>
            <a:ext cx="2672791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8A929C"/>
                </a:solidFill>
                <a:latin typeface="JetBrains Mono"/>
              </a:rPr>
              <a:t>moto locally; real AWS as-is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4389120" y="4960620"/>
            <a:ext cx="320040" cy="0"/>
          </a:xfrm>
          <a:prstGeom prst="line">
            <a:avLst/>
          </a:prstGeom>
          <a:ln w="15875">
            <a:solidFill>
              <a:srgbClr val="8A929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4709160" y="4498848"/>
            <a:ext cx="0" cy="923544"/>
          </a:xfrm>
          <a:prstGeom prst="line">
            <a:avLst/>
          </a:prstGeom>
          <a:ln w="15875">
            <a:solidFill>
              <a:srgbClr val="8A929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4709160" y="4498848"/>
            <a:ext cx="283464" cy="0"/>
          </a:xfrm>
          <a:prstGeom prst="line">
            <a:avLst/>
          </a:prstGeom>
          <a:ln w="15875">
            <a:solidFill>
              <a:srgbClr val="8A929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7991856" y="4498848"/>
            <a:ext cx="384048" cy="0"/>
          </a:xfrm>
          <a:prstGeom prst="line">
            <a:avLst/>
          </a:prstGeom>
          <a:ln w="15875">
            <a:solidFill>
              <a:srgbClr val="8A929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4709160" y="5422392"/>
            <a:ext cx="283464" cy="0"/>
          </a:xfrm>
          <a:prstGeom prst="line">
            <a:avLst/>
          </a:prstGeom>
          <a:ln w="15875">
            <a:solidFill>
              <a:srgbClr val="8A929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7991856" y="5422392"/>
            <a:ext cx="384048" cy="0"/>
          </a:xfrm>
          <a:prstGeom prst="line">
            <a:avLst/>
          </a:prstGeom>
          <a:ln w="15875">
            <a:solidFill>
              <a:srgbClr val="8A929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548640" y="6473952"/>
            <a:ext cx="640080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8A929C"/>
                </a:solidFill>
                <a:latin typeface="JetBrains Mono"/>
              </a:rPr>
              <a:t>github.com/panshularora/Acentra_HackForgeAI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814255" y="6473952"/>
            <a:ext cx="182880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8A929C"/>
                </a:solidFill>
                <a:latin typeface="JetBrains Mono"/>
              </a:rPr>
              <a:t>4 /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4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800" b="0" i="0">
                <a:solidFill>
                  <a:srgbClr val="E6E8EB"/>
                </a:solidFill>
                <a:latin typeface="Inter SemiBold"/>
              </a:rPr>
              <a:t>The database outage was caught in </a:t>
            </a:r>
            <a:r>
              <a:rPr sz="2800" b="0" i="0">
                <a:solidFill>
                  <a:srgbClr val="E6E8EB"/>
                </a:solidFill>
                <a:latin typeface="JetBrains Mono SemiBold"/>
              </a:rPr>
              <a:t>20</a:t>
            </a:r>
            <a:r>
              <a:rPr sz="2800" b="0" i="0">
                <a:solidFill>
                  <a:srgbClr val="E6E8EB"/>
                </a:solidFill>
                <a:latin typeface="Inter SemiBold"/>
              </a:rPr>
              <a:t> seconds, and the alert names the failing service.</a:t>
            </a:r>
          </a:p>
        </p:txBody>
      </p:sp>
      <p:pic>
        <p:nvPicPr>
          <p:cNvPr id="3" name="Picture 2" descr="dashboard-db-outage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48640" y="1783080"/>
            <a:ext cx="7095744" cy="4434840"/>
          </a:xfrm>
          <a:prstGeom prst="rect">
            <a:avLst/>
          </a:prstGeom>
          <a:ln w="9525">
            <a:solidFill>
              <a:srgbClr val="262B33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8101583" y="1673352"/>
            <a:ext cx="3541471" cy="960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5400" b="0" i="0">
                <a:solidFill>
                  <a:srgbClr val="E6E8EB"/>
                </a:solidFill>
                <a:latin typeface="JetBrains Mono SemiBold"/>
              </a:rPr>
              <a:t>20</a:t>
            </a:r>
            <a:r>
              <a:rPr sz="2000" b="0" i="0">
                <a:solidFill>
                  <a:srgbClr val="8A929C"/>
                </a:solidFill>
                <a:latin typeface="Inter Medium"/>
              </a:rPr>
              <a:t>  seconds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01583" y="2679191"/>
            <a:ext cx="3541471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 i="0">
                <a:solidFill>
                  <a:srgbClr val="8A929C"/>
                </a:solidFill>
                <a:latin typeface="Inter Medium"/>
              </a:rPr>
              <a:t>detection latency, replay of a 45 s outage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 i="0">
                <a:solidFill>
                  <a:srgbClr val="8A929C"/>
                </a:solidFill>
                <a:latin typeface="Inter Medium"/>
              </a:rPr>
              <a:t>(make replay, seed 2026)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01583" y="3429000"/>
            <a:ext cx="3541471" cy="274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2000"/>
              </a:lnSpc>
              <a:spcAft>
                <a:spcPts val="1200"/>
              </a:spcAft>
            </a:pPr>
            <a:r>
              <a:rPr sz="1300" b="0" i="0">
                <a:solidFill>
                  <a:srgbClr val="E6E8EB"/>
                </a:solidFill>
                <a:latin typeface="Inter"/>
              </a:rPr>
              <a:t>Opened </a:t>
            </a:r>
            <a:r>
              <a:rPr sz="1300" b="0" i="0">
                <a:solidFill>
                  <a:srgbClr val="E8590C"/>
                </a:solidFill>
                <a:latin typeface="JetBrains Mono SemiBold"/>
              </a:rPr>
              <a:t>HIGH</a:t>
            </a:r>
            <a:r>
              <a:rPr sz="1300" b="0" i="0">
                <a:solidFill>
                  <a:srgbClr val="E6E8EB"/>
                </a:solidFill>
                <a:latin typeface="Inter"/>
              </a:rPr>
              <a:t> after </a:t>
            </a:r>
            <a:r>
              <a:rPr sz="1300" b="0" i="0">
                <a:solidFill>
                  <a:srgbClr val="E6E8EB"/>
                </a:solidFill>
                <a:latin typeface="JetBrains Mono"/>
              </a:rPr>
              <a:t>2</a:t>
            </a:r>
            <a:r>
              <a:rPr sz="1300" b="0" i="0">
                <a:solidFill>
                  <a:srgbClr val="E6E8EB"/>
                </a:solidFill>
                <a:latin typeface="Inter"/>
              </a:rPr>
              <a:t> ten‑second buckets, peaked </a:t>
            </a:r>
            <a:r>
              <a:rPr sz="1300" b="0" i="0">
                <a:solidFill>
                  <a:srgbClr val="E03131"/>
                </a:solidFill>
                <a:latin typeface="JetBrains Mono SemiBold"/>
              </a:rPr>
              <a:t>CRITICAL</a:t>
            </a:r>
            <a:r>
              <a:rPr sz="1300" b="0" i="0">
                <a:solidFill>
                  <a:srgbClr val="E6E8EB"/>
                </a:solidFill>
                <a:latin typeface="Inter"/>
              </a:rPr>
              <a:t> at z = </a:t>
            </a:r>
            <a:r>
              <a:rPr sz="1300" b="0" i="0">
                <a:solidFill>
                  <a:srgbClr val="E6E8EB"/>
                </a:solidFill>
                <a:latin typeface="JetBrains Mono"/>
              </a:rPr>
              <a:t>16.4</a:t>
            </a:r>
            <a:r>
              <a:rPr sz="1300" b="0" i="0">
                <a:solidFill>
                  <a:srgbClr val="E6E8EB"/>
                </a:solidFill>
                <a:latin typeface="Inter"/>
              </a:rPr>
              <a:t>.</a:t>
            </a:r>
          </a:p>
          <a:p>
            <a:pPr algn="l">
              <a:lnSpc>
                <a:spcPct val="122000"/>
              </a:lnSpc>
              <a:spcAft>
                <a:spcPts val="1200"/>
              </a:spcAft>
            </a:pPr>
            <a:r>
              <a:rPr sz="1300" b="0" i="0">
                <a:solidFill>
                  <a:srgbClr val="E6E8EB"/>
                </a:solidFill>
                <a:latin typeface="Inter"/>
              </a:rPr>
              <a:t>“82% of errors come from claim‑adjudication: DB connection timeout”</a:t>
            </a:r>
          </a:p>
          <a:p>
            <a:pPr algn="l">
              <a:lnSpc>
                <a:spcPct val="122000"/>
              </a:lnSpc>
              <a:spcAft>
                <a:spcPts val="1200"/>
              </a:spcAft>
            </a:pPr>
            <a:r>
              <a:rPr sz="1100" b="0" i="0">
                <a:solidFill>
                  <a:srgbClr val="8A929C"/>
                </a:solidFill>
                <a:latin typeface="Inter"/>
              </a:rPr>
              <a:t>Screenshot: the live stack during an injected outage (make incident-db).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640080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8A929C"/>
                </a:solidFill>
                <a:latin typeface="JetBrains Mono"/>
              </a:rPr>
              <a:t>github.com/panshularora/Acentra_HackForgeAI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14255" y="6473952"/>
            <a:ext cx="182880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8A929C"/>
                </a:solidFill>
                <a:latin typeface="JetBrains Mono"/>
              </a:rPr>
              <a:t>5 /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4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800" b="0" i="0">
                <a:solidFill>
                  <a:srgbClr val="E6E8EB"/>
                </a:solidFill>
                <a:latin typeface="Inter SemiBold"/>
              </a:rPr>
              <a:t>The same detector caught a credential-stuffing attack from </a:t>
            </a:r>
            <a:r>
              <a:rPr sz="2800" b="0" i="0">
                <a:solidFill>
                  <a:srgbClr val="E6E8EB"/>
                </a:solidFill>
                <a:latin typeface="JetBrains Mono SemiBold"/>
              </a:rPr>
              <a:t>10.4.2.17</a:t>
            </a:r>
            <a:r>
              <a:rPr sz="2800" b="0" i="0">
                <a:solidFill>
                  <a:srgbClr val="E6E8EB"/>
                </a:solidFill>
                <a:latin typeface="Inter SemiBold"/>
              </a:rPr>
              <a:t>.</a:t>
            </a:r>
          </a:p>
        </p:txBody>
      </p:sp>
      <p:pic>
        <p:nvPicPr>
          <p:cNvPr id="3" name="Picture 2" descr="dashboard-cred-stuffing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48640" y="1783080"/>
            <a:ext cx="7095744" cy="4434840"/>
          </a:xfrm>
          <a:prstGeom prst="rect">
            <a:avLst/>
          </a:prstGeom>
          <a:ln w="9525">
            <a:solidFill>
              <a:srgbClr val="262B33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8101583" y="1673352"/>
            <a:ext cx="3541471" cy="960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5400" b="0" i="0">
                <a:solidFill>
                  <a:srgbClr val="E6E8EB"/>
                </a:solidFill>
                <a:latin typeface="JetBrains Mono SemiBold"/>
              </a:rPr>
              <a:t>10</a:t>
            </a:r>
            <a:r>
              <a:rPr sz="2000" b="0" i="0">
                <a:solidFill>
                  <a:srgbClr val="8A929C"/>
                </a:solidFill>
                <a:latin typeface="Inter Medium"/>
              </a:rPr>
              <a:t>  seconds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01583" y="2679191"/>
            <a:ext cx="3541471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 i="0">
                <a:solidFill>
                  <a:srgbClr val="8A929C"/>
                </a:solidFill>
                <a:latin typeface="Inter Medium"/>
              </a:rPr>
              <a:t>detection latency, replay of a 30 s attack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 i="0">
                <a:solidFill>
                  <a:srgbClr val="8A929C"/>
                </a:solidFill>
                <a:latin typeface="Inter Medium"/>
              </a:rPr>
              <a:t>(make replay, seed 2026)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01583" y="3429000"/>
            <a:ext cx="3541471" cy="274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2000"/>
              </a:lnSpc>
              <a:spcAft>
                <a:spcPts val="1200"/>
              </a:spcAft>
            </a:pPr>
            <a:r>
              <a:rPr sz="1300" b="0" i="0">
                <a:solidFill>
                  <a:srgbClr val="E6E8EB"/>
                </a:solidFill>
                <a:latin typeface="Inter"/>
              </a:rPr>
              <a:t>Opened </a:t>
            </a:r>
            <a:r>
              <a:rPr sz="1300" b="0" i="0">
                <a:solidFill>
                  <a:srgbClr val="E8590C"/>
                </a:solidFill>
                <a:latin typeface="JetBrains Mono SemiBold"/>
              </a:rPr>
              <a:t>HIGH</a:t>
            </a:r>
            <a:r>
              <a:rPr sz="1300" b="0" i="0">
                <a:solidFill>
                  <a:srgbClr val="E6E8EB"/>
                </a:solidFill>
                <a:latin typeface="Inter"/>
              </a:rPr>
              <a:t> in the first bucket already naming the IP; peaked </a:t>
            </a:r>
            <a:r>
              <a:rPr sz="1300" b="0" i="0">
                <a:solidFill>
                  <a:srgbClr val="E03131"/>
                </a:solidFill>
                <a:latin typeface="JetBrains Mono SemiBold"/>
              </a:rPr>
              <a:t>CRITICAL</a:t>
            </a:r>
            <a:r>
              <a:rPr sz="1300" b="0" i="0">
                <a:solidFill>
                  <a:srgbClr val="E6E8EB"/>
                </a:solidFill>
                <a:latin typeface="Inter"/>
              </a:rPr>
              <a:t> at z = </a:t>
            </a:r>
            <a:r>
              <a:rPr sz="1300" b="0" i="0">
                <a:solidFill>
                  <a:srgbClr val="E6E8EB"/>
                </a:solidFill>
                <a:latin typeface="JetBrains Mono"/>
              </a:rPr>
              <a:t>23.1</a:t>
            </a:r>
            <a:r>
              <a:rPr sz="1300" b="0" i="0">
                <a:solidFill>
                  <a:srgbClr val="E6E8EB"/>
                </a:solidFill>
                <a:latin typeface="Inter"/>
              </a:rPr>
              <a:t>.</a:t>
            </a:r>
          </a:p>
          <a:p>
            <a:pPr algn="l">
              <a:lnSpc>
                <a:spcPct val="122000"/>
              </a:lnSpc>
              <a:spcAft>
                <a:spcPts val="1200"/>
              </a:spcAft>
            </a:pPr>
            <a:r>
              <a:rPr sz="1300" b="0" i="0">
                <a:solidFill>
                  <a:srgbClr val="E6E8EB"/>
                </a:solidFill>
                <a:latin typeface="Inter"/>
              </a:rPr>
              <a:t>“179 failed logins from 10.4.2.17 in the last 60s”</a:t>
            </a:r>
          </a:p>
          <a:p>
            <a:pPr algn="l">
              <a:lnSpc>
                <a:spcPct val="122000"/>
              </a:lnSpc>
              <a:spcAft>
                <a:spcPts val="1200"/>
              </a:spcAft>
            </a:pPr>
            <a:r>
              <a:rPr sz="1100" b="0" i="0">
                <a:solidFill>
                  <a:srgbClr val="8A929C"/>
                </a:solidFill>
                <a:latin typeface="Inter"/>
              </a:rPr>
              <a:t>Screenshot: the live stack during an injected attack (make incident-auth).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640080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8A929C"/>
                </a:solidFill>
                <a:latin typeface="JetBrains Mono"/>
              </a:rPr>
              <a:t>github.com/panshularora/Acentra_HackForgeAI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14255" y="6473952"/>
            <a:ext cx="182880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8A929C"/>
                </a:solidFill>
                <a:latin typeface="JetBrains Mono"/>
              </a:rPr>
              <a:t>6 /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4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800" b="0" i="0">
                <a:solidFill>
                  <a:srgbClr val="E6E8EB"/>
                </a:solidFill>
                <a:latin typeface="Inter SemiBold"/>
              </a:rPr>
              <a:t>Patient data is masked before any alert leaves the server.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27048"/>
            <a:ext cx="5364327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8A929C"/>
                </a:solidFill>
                <a:latin typeface="Inter Medium"/>
              </a:rPr>
              <a:t>One line from tools/loggen.py, before and after the parser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74519"/>
            <a:ext cx="5364327" cy="3566160"/>
          </a:xfrm>
          <a:prstGeom prst="roundRect">
            <a:avLst>
              <a:gd name="adj" fmla="val 1068"/>
            </a:avLst>
          </a:prstGeom>
          <a:solidFill>
            <a:srgbClr val="171B21"/>
          </a:solidFill>
          <a:ln w="9525">
            <a:solidFill>
              <a:srgbClr val="262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22959" y="2103120"/>
            <a:ext cx="4815687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8A929C"/>
                </a:solidFill>
                <a:latin typeface="JetBrains Mono SemiBold"/>
              </a:rPr>
              <a:t>RAW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" y="2350008"/>
            <a:ext cx="4815687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00" b="0" i="0">
                <a:solidFill>
                  <a:srgbClr val="8A929C"/>
                </a:solidFill>
                <a:latin typeface="JetBrains Mono"/>
              </a:rPr>
              <a:t>2026-09-28T09:14:03.412Z ERROR member-auth msg="login failed: invalid credentials" req=a6a3a450 </a:t>
            </a:r>
            <a:r>
              <a:rPr sz="1100" b="0" i="0">
                <a:solidFill>
                  <a:srgbClr val="E6E8EB"/>
                </a:solidFill>
                <a:latin typeface="JetBrains Mono SemiBold"/>
              </a:rPr>
              <a:t>member_id=M1810111</a:t>
            </a:r>
            <a:r>
              <a:rPr sz="1100" b="0" i="0">
                <a:solidFill>
                  <a:srgbClr val="8A929C"/>
                </a:solidFill>
                <a:latin typeface="JetBrains Mono"/>
              </a:rPr>
              <a:t> </a:t>
            </a:r>
            <a:r>
              <a:rPr sz="1100" b="0" i="0">
                <a:solidFill>
                  <a:srgbClr val="E6E8EB"/>
                </a:solidFill>
                <a:latin typeface="JetBrains Mono SemiBold"/>
              </a:rPr>
              <a:t>name="Aisha Brown"</a:t>
            </a:r>
            <a:r>
              <a:rPr sz="1100" b="0" i="0">
                <a:solidFill>
                  <a:srgbClr val="8A929C"/>
                </a:solidFill>
                <a:latin typeface="JetBrains Mono"/>
              </a:rPr>
              <a:t> plan=MEDICAID-A </a:t>
            </a:r>
            <a:r>
              <a:rPr sz="1100" b="0" i="0">
                <a:solidFill>
                  <a:srgbClr val="E6E8EB"/>
                </a:solidFill>
                <a:latin typeface="JetBrains Mono SemiBold"/>
              </a:rPr>
              <a:t>email=priya971@example.com</a:t>
            </a:r>
            <a:r>
              <a:rPr sz="1100" b="0" i="0">
                <a:solidFill>
                  <a:srgbClr val="8A929C"/>
                </a:solidFill>
                <a:latin typeface="JetBrains Mono"/>
              </a:rPr>
              <a:t> ip=10.4.2.17 status=401 latency_ms=54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22959" y="3675887"/>
            <a:ext cx="4815688" cy="0"/>
          </a:xfrm>
          <a:prstGeom prst="line">
            <a:avLst/>
          </a:prstGeom>
          <a:ln w="9525">
            <a:solidFill>
              <a:srgbClr val="262B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22959" y="3813048"/>
            <a:ext cx="4815687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8A929C"/>
                </a:solidFill>
                <a:latin typeface="JetBrains Mono SemiBold"/>
              </a:rPr>
              <a:t>MASKED  (ingest/masking.py)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4059935"/>
            <a:ext cx="4815687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8A929C"/>
                </a:solidFill>
                <a:latin typeface="JetBrains Mono"/>
              </a:rPr>
              <a:t>2026-09-28T09:14:03.412Z ERROR member-auth msg="login failed: invalid credentials" req=a6a3a450 member_id=</a:t>
            </a:r>
            <a:r>
              <a:rPr sz="1100" b="0" i="0">
                <a:solidFill>
                  <a:srgbClr val="E6E8EB"/>
                </a:solidFill>
                <a:latin typeface="JetBrains Mono SemiBold"/>
              </a:rPr>
              <a:t>&lt;MEMBER_ID&gt;</a:t>
            </a:r>
            <a:r>
              <a:rPr sz="1100" b="0" i="0">
                <a:solidFill>
                  <a:srgbClr val="8A929C"/>
                </a:solidFill>
                <a:latin typeface="JetBrains Mono"/>
              </a:rPr>
              <a:t> name="</a:t>
            </a:r>
            <a:r>
              <a:rPr sz="1100" b="0" i="0">
                <a:solidFill>
                  <a:srgbClr val="E6E8EB"/>
                </a:solidFill>
                <a:latin typeface="JetBrains Mono SemiBold"/>
              </a:rPr>
              <a:t>&lt;NAME&gt;</a:t>
            </a:r>
            <a:r>
              <a:rPr sz="1100" b="0" i="0">
                <a:solidFill>
                  <a:srgbClr val="8A929C"/>
                </a:solidFill>
                <a:latin typeface="JetBrains Mono"/>
              </a:rPr>
              <a:t>" plan=MEDICAID-A email=</a:t>
            </a:r>
            <a:r>
              <a:rPr sz="1100" b="0" i="0">
                <a:solidFill>
                  <a:srgbClr val="E6E8EB"/>
                </a:solidFill>
                <a:latin typeface="JetBrains Mono SemiBold"/>
              </a:rPr>
              <a:t>&lt;EMAIL&gt;</a:t>
            </a:r>
            <a:r>
              <a:rPr sz="1100" b="0" i="0">
                <a:solidFill>
                  <a:srgbClr val="8A929C"/>
                </a:solidFill>
                <a:latin typeface="JetBrains Mono"/>
              </a:rPr>
              <a:t> ip=10.4.2.17 status=401 latency_ms=54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78727" y="1527048"/>
            <a:ext cx="5364327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8A929C"/>
                </a:solidFill>
                <a:latin typeface="Inter Medium"/>
              </a:rPr>
              <a:t>The alert read back from SNS by tools/sns_tail.py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8727" y="1874519"/>
            <a:ext cx="5364327" cy="3566160"/>
          </a:xfrm>
          <a:prstGeom prst="roundRect">
            <a:avLst>
              <a:gd name="adj" fmla="val 1068"/>
            </a:avLst>
          </a:prstGeom>
          <a:solidFill>
            <a:srgbClr val="171B21"/>
          </a:solidFill>
          <a:ln w="9525">
            <a:solidFill>
              <a:srgbClr val="262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553047" y="2103120"/>
            <a:ext cx="4815687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8A929C"/>
                </a:solidFill>
                <a:latin typeface="JetBrains Mono SemiBold"/>
              </a:rPr>
              <a:t>SNS → SQS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3047" y="2350008"/>
            <a:ext cx="4815687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00" b="0" i="0">
                <a:solidFill>
                  <a:srgbClr val="8A929C"/>
                </a:solidFill>
                <a:latin typeface="JetBrains Mono"/>
              </a:rPr>
              <a:t>SNS MessageId </a:t>
            </a:r>
            <a:r>
              <a:rPr sz="1100" b="0" i="0">
                <a:solidFill>
                  <a:srgbClr val="E6E8EB"/>
                </a:solidFill>
                <a:latin typeface="JetBrains Mono"/>
              </a:rPr>
              <a:t>95cf7d28-420e-40d7-9b49-89e703c1bc78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00" b="0" i="0">
                <a:solidFill>
                  <a:srgbClr val="8A929C"/>
                </a:solidFill>
                <a:latin typeface="JetBrains Mono"/>
              </a:rPr>
              <a:t>Subject: [</a:t>
            </a:r>
            <a:r>
              <a:rPr sz="1100" b="0" i="0">
                <a:solidFill>
                  <a:srgbClr val="E8590C"/>
                </a:solidFill>
                <a:latin typeface="JetBrains Mono SemiBold"/>
              </a:rPr>
              <a:t>HIGH</a:t>
            </a:r>
            <a:r>
              <a:rPr sz="1100" b="0" i="0">
                <a:solidFill>
                  <a:srgbClr val="E6E8EB"/>
                </a:solidFill>
                <a:latin typeface="JetBrains Mono"/>
              </a:rPr>
              <a:t>] ClaimsWatch: 71% of errors come from claim-adjudication: DB connection timeout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00" b="0" i="0">
                <a:solidFill>
                  <a:srgbClr val="8A929C"/>
                </a:solidFill>
                <a:latin typeface="JetBrains Mono"/>
              </a:rPr>
              <a:t>Publisher: </a:t>
            </a:r>
            <a:r>
              <a:rPr sz="1100" b="0" i="0">
                <a:solidFill>
                  <a:srgbClr val="E6E8EB"/>
                </a:solidFill>
                <a:latin typeface="JetBrains Mono"/>
              </a:rPr>
              <a:t>sns sent, id 95cf7d28…; cloudwatch sent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553047" y="3675887"/>
            <a:ext cx="4815688" cy="0"/>
          </a:xfrm>
          <a:prstGeom prst="line">
            <a:avLst/>
          </a:prstGeom>
          <a:ln w="9525">
            <a:solidFill>
              <a:srgbClr val="262B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553047" y="3813048"/>
            <a:ext cx="4815687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8A929C"/>
                </a:solidFill>
                <a:latin typeface="JetBrains Mono SemiBold"/>
              </a:rPr>
              <a:t>sample_lines[0]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3047" y="4059935"/>
            <a:ext cx="4815687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8A929C"/>
                </a:solidFill>
                <a:latin typeface="JetBrains Mono"/>
              </a:rPr>
              <a:t>2026-09-28T09:08:19.883Z ERROR claim-adjudication msg="DB connection timeout" req=b80aea2a member_id=</a:t>
            </a:r>
            <a:r>
              <a:rPr sz="1100" b="0" i="0">
                <a:solidFill>
                  <a:srgbClr val="E6E8EB"/>
                </a:solidFill>
                <a:latin typeface="JetBrains Mono SemiBold"/>
              </a:rPr>
              <a:t>&lt;MEMBER_ID&gt;</a:t>
            </a:r>
            <a:r>
              <a:rPr sz="1100" b="0" i="0">
                <a:solidFill>
                  <a:srgbClr val="8A929C"/>
                </a:solidFill>
                <a:latin typeface="JetBrains Mono"/>
              </a:rPr>
              <a:t> name="</a:t>
            </a:r>
            <a:r>
              <a:rPr sz="1100" b="0" i="0">
                <a:solidFill>
                  <a:srgbClr val="E6E8EB"/>
                </a:solidFill>
                <a:latin typeface="JetBrains Mono SemiBold"/>
              </a:rPr>
              <a:t>&lt;NAME&gt;</a:t>
            </a:r>
            <a:r>
              <a:rPr sz="1100" b="0" i="0">
                <a:solidFill>
                  <a:srgbClr val="8A929C"/>
                </a:solidFill>
                <a:latin typeface="JetBrains Mono"/>
              </a:rPr>
              <a:t>" plan=MEDICAID-B pool=claims-primary ip=10.1.78.45 status=503 latency_ms=5049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623559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0" i="0">
                <a:solidFill>
                  <a:srgbClr val="8A929C"/>
                </a:solidFill>
                <a:latin typeface="Inter"/>
              </a:rPr>
              <a:t>Member IDs, names, dates of birth, e-mails, SSNs and phone numbers are tagged in the parser; nothing downstream sees them.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0" i="0">
                <a:solidFill>
                  <a:srgbClr val="8A929C"/>
                </a:solidFill>
                <a:latin typeface="Inter"/>
              </a:rPr>
              <a:t>Right: the production AlertPublisher sent the replayed outage alert to moto_server; tools/sns_tail.py read it back via SNS → SQS.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73952"/>
            <a:ext cx="640080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8A929C"/>
                </a:solidFill>
                <a:latin typeface="JetBrains Mono"/>
              </a:rPr>
              <a:t>github.com/panshularora/Acentra_HackForgeAI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14255" y="6473952"/>
            <a:ext cx="182880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8A929C"/>
                </a:solidFill>
                <a:latin typeface="JetBrains Mono"/>
              </a:rPr>
              <a:t>7 /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4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800" b="0" i="0">
                <a:solidFill>
                  <a:srgbClr val="E6E8EB"/>
                </a:solidFill>
                <a:latin typeface="Inter SemiBold"/>
              </a:rPr>
              <a:t>Across </a:t>
            </a:r>
            <a:r>
              <a:rPr sz="2800" b="0" i="0">
                <a:solidFill>
                  <a:srgbClr val="E6E8EB"/>
                </a:solidFill>
                <a:latin typeface="JetBrains Mono SemiBold"/>
              </a:rPr>
              <a:t>18</a:t>
            </a:r>
            <a:r>
              <a:rPr sz="2800" b="0" i="0">
                <a:solidFill>
                  <a:srgbClr val="E6E8EB"/>
                </a:solidFill>
                <a:latin typeface="Inter SemiBold"/>
              </a:rPr>
              <a:t> replayed incidents: all detected in </a:t>
            </a:r>
            <a:r>
              <a:rPr sz="2800" b="0" i="0">
                <a:solidFill>
                  <a:srgbClr val="E6E8EB"/>
                </a:solidFill>
                <a:latin typeface="JetBrains Mono SemiBold"/>
              </a:rPr>
              <a:t>10</a:t>
            </a:r>
            <a:r>
              <a:rPr sz="2800" b="0" i="0">
                <a:solidFill>
                  <a:srgbClr val="E6E8EB"/>
                </a:solidFill>
                <a:latin typeface="Inter SemiBold"/>
              </a:rPr>
              <a:t>–</a:t>
            </a:r>
            <a:r>
              <a:rPr sz="2800" b="0" i="0">
                <a:solidFill>
                  <a:srgbClr val="E6E8EB"/>
                </a:solidFill>
                <a:latin typeface="JetBrains Mono SemiBold"/>
              </a:rPr>
              <a:t>20</a:t>
            </a:r>
            <a:r>
              <a:rPr sz="2800" b="0" i="0">
                <a:solidFill>
                  <a:srgbClr val="E6E8EB"/>
                </a:solidFill>
                <a:latin typeface="Inter SemiBold"/>
              </a:rPr>
              <a:t> seconds, with </a:t>
            </a:r>
            <a:r>
              <a:rPr sz="2800" b="0" i="0">
                <a:solidFill>
                  <a:srgbClr val="E6E8EB"/>
                </a:solidFill>
                <a:latin typeface="JetBrains Mono SemiBold"/>
              </a:rPr>
              <a:t>0</a:t>
            </a:r>
            <a:r>
              <a:rPr sz="2800" b="0" i="0">
                <a:solidFill>
                  <a:srgbClr val="E6E8EB"/>
                </a:solidFill>
                <a:latin typeface="Inter SemiBold"/>
              </a:rPr>
              <a:t> false alarms.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5564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8A929C"/>
                </a:solidFill>
                <a:latin typeface="Inter Medium"/>
              </a:rPr>
              <a:t>Detection latency per replay seed (tools/replay.py --seed N, 20-minute scenario each)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103120"/>
            <a:ext cx="11094415" cy="1901952"/>
          </a:xfrm>
          <a:prstGeom prst="roundRect">
            <a:avLst>
              <a:gd name="adj" fmla="val 2003"/>
            </a:avLst>
          </a:prstGeom>
          <a:solidFill>
            <a:srgbClr val="171B21"/>
          </a:solidFill>
          <a:ln w="9525">
            <a:solidFill>
              <a:srgbClr val="262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7240" y="2103120"/>
            <a:ext cx="164592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8A929C"/>
                </a:solidFill>
                <a:latin typeface="Inter Medium"/>
              </a:rPr>
              <a:t>Seed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68880" y="2103120"/>
            <a:ext cx="101935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8A929C"/>
                </a:solidFill>
                <a:latin typeface="JetBrains Mono"/>
              </a:rPr>
              <a:t>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88232" y="2103120"/>
            <a:ext cx="101935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8A929C"/>
                </a:solidFill>
                <a:latin typeface="JetBrains Mon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07585" y="2103120"/>
            <a:ext cx="101935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8A929C"/>
                </a:solidFill>
                <a:latin typeface="JetBrains Mono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26938" y="2103120"/>
            <a:ext cx="101935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8A929C"/>
                </a:solidFill>
                <a:latin typeface="JetBrains Mono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46291" y="2103120"/>
            <a:ext cx="101935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8A929C"/>
                </a:solidFill>
                <a:latin typeface="JetBrains Mono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65644" y="2103120"/>
            <a:ext cx="101935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8A929C"/>
                </a:solidFill>
                <a:latin typeface="JetBrains Mono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84996" y="2103120"/>
            <a:ext cx="101935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8A929C"/>
                </a:solidFill>
                <a:latin typeface="JetBrains Mono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4349" y="2103120"/>
            <a:ext cx="101935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8A929C"/>
                </a:solidFill>
                <a:latin typeface="JetBrains Mono"/>
              </a:rPr>
              <a:t>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23702" y="2103120"/>
            <a:ext cx="101935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8A929C"/>
                </a:solidFill>
                <a:latin typeface="JetBrains Mono"/>
              </a:rPr>
              <a:t>8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48640" y="2578608"/>
            <a:ext cx="11094415" cy="0"/>
          </a:xfrm>
          <a:prstGeom prst="line">
            <a:avLst/>
          </a:prstGeom>
          <a:ln w="9525">
            <a:solidFill>
              <a:srgbClr val="262B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77240" y="2578608"/>
            <a:ext cx="164592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E6E8EB"/>
                </a:solidFill>
                <a:latin typeface="Inter Medium"/>
              </a:rPr>
              <a:t>db-outage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68880" y="2578608"/>
            <a:ext cx="101935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E6E8EB"/>
                </a:solidFill>
                <a:latin typeface="JetBrains Mono"/>
              </a:rPr>
              <a:t>20 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88232" y="2578608"/>
            <a:ext cx="101935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E6E8EB"/>
                </a:solidFill>
                <a:latin typeface="JetBrains Mono"/>
              </a:rPr>
              <a:t>20 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07585" y="2578608"/>
            <a:ext cx="101935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E6E8EB"/>
                </a:solidFill>
                <a:latin typeface="JetBrains Mono"/>
              </a:rPr>
              <a:t>20 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26938" y="2578608"/>
            <a:ext cx="101935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E6E8EB"/>
                </a:solidFill>
                <a:latin typeface="JetBrains Mono"/>
              </a:rPr>
              <a:t>10 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6291" y="2578608"/>
            <a:ext cx="101935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E6E8EB"/>
                </a:solidFill>
                <a:latin typeface="JetBrains Mono"/>
              </a:rPr>
              <a:t>10 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65644" y="2578608"/>
            <a:ext cx="101935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E6E8EB"/>
                </a:solidFill>
                <a:latin typeface="JetBrains Mono"/>
              </a:rPr>
              <a:t>20 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84996" y="2578608"/>
            <a:ext cx="101935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E6E8EB"/>
                </a:solidFill>
                <a:latin typeface="JetBrains Mono"/>
              </a:rPr>
              <a:t>20 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4349" y="2578608"/>
            <a:ext cx="101935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E6E8EB"/>
                </a:solidFill>
                <a:latin typeface="JetBrains Mono"/>
              </a:rPr>
              <a:t>20 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23702" y="2578608"/>
            <a:ext cx="101935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E6E8EB"/>
                </a:solidFill>
                <a:latin typeface="JetBrains Mono"/>
              </a:rPr>
              <a:t>20 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48640" y="3054096"/>
            <a:ext cx="11094415" cy="0"/>
          </a:xfrm>
          <a:prstGeom prst="line">
            <a:avLst/>
          </a:prstGeom>
          <a:ln w="9525">
            <a:solidFill>
              <a:srgbClr val="262B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777240" y="3054096"/>
            <a:ext cx="164592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E6E8EB"/>
                </a:solidFill>
                <a:latin typeface="Inter Medium"/>
              </a:rPr>
              <a:t>cred-stuffing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68880" y="3054096"/>
            <a:ext cx="101935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E6E8EB"/>
                </a:solidFill>
                <a:latin typeface="JetBrains Mono"/>
              </a:rPr>
              <a:t>10 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88232" y="3054096"/>
            <a:ext cx="101935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E6E8EB"/>
                </a:solidFill>
                <a:latin typeface="JetBrains Mono"/>
              </a:rPr>
              <a:t>10 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07585" y="3054096"/>
            <a:ext cx="101935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E6E8EB"/>
                </a:solidFill>
                <a:latin typeface="JetBrains Mono"/>
              </a:rPr>
              <a:t>10 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526938" y="3054096"/>
            <a:ext cx="101935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E6E8EB"/>
                </a:solidFill>
                <a:latin typeface="JetBrains Mono"/>
              </a:rPr>
              <a:t>10 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46291" y="3054096"/>
            <a:ext cx="101935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E6E8EB"/>
                </a:solidFill>
                <a:latin typeface="JetBrains Mono"/>
              </a:rPr>
              <a:t>10 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65644" y="3054096"/>
            <a:ext cx="101935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E6E8EB"/>
                </a:solidFill>
                <a:latin typeface="JetBrains Mono"/>
              </a:rPr>
              <a:t>10 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84996" y="3054096"/>
            <a:ext cx="101935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E6E8EB"/>
                </a:solidFill>
                <a:latin typeface="JetBrains Mono"/>
              </a:rPr>
              <a:t>10 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04349" y="3054096"/>
            <a:ext cx="101935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E6E8EB"/>
                </a:solidFill>
                <a:latin typeface="JetBrains Mono"/>
              </a:rPr>
              <a:t>10 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23702" y="3054096"/>
            <a:ext cx="101935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E6E8EB"/>
                </a:solidFill>
                <a:latin typeface="JetBrains Mono"/>
              </a:rPr>
              <a:t>10 s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548640" y="3529584"/>
            <a:ext cx="11094415" cy="0"/>
          </a:xfrm>
          <a:prstGeom prst="line">
            <a:avLst/>
          </a:prstGeom>
          <a:ln w="9525">
            <a:solidFill>
              <a:srgbClr val="262B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777240" y="3529584"/>
            <a:ext cx="164592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E6E8EB"/>
                </a:solidFill>
                <a:latin typeface="Inter Medium"/>
              </a:rPr>
              <a:t>False alarms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0" y="3529584"/>
            <a:ext cx="101935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E6E8EB"/>
                </a:solidFill>
                <a:latin typeface="JetBrains Mono"/>
              </a:rP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88232" y="3529584"/>
            <a:ext cx="101935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E6E8EB"/>
                </a:solidFill>
                <a:latin typeface="JetBrains Mono"/>
              </a:rP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07585" y="3529584"/>
            <a:ext cx="101935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E6E8EB"/>
                </a:solidFill>
                <a:latin typeface="JetBrains Mono"/>
              </a:rPr>
              <a:t>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526938" y="3529584"/>
            <a:ext cx="101935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E6E8EB"/>
                </a:solidFill>
                <a:latin typeface="JetBrains Mono"/>
              </a:rP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46291" y="3529584"/>
            <a:ext cx="101935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E6E8EB"/>
                </a:solidFill>
                <a:latin typeface="JetBrains Mono"/>
              </a:rPr>
              <a:t>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565644" y="3529584"/>
            <a:ext cx="101935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E6E8EB"/>
                </a:solidFill>
                <a:latin typeface="JetBrains Mono"/>
              </a:rPr>
              <a:t>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84996" y="3529584"/>
            <a:ext cx="101935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E6E8EB"/>
                </a:solidFill>
                <a:latin typeface="JetBrains Mono"/>
              </a:rP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04349" y="3529584"/>
            <a:ext cx="101935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E6E8EB"/>
                </a:solidFill>
                <a:latin typeface="JetBrains Mono"/>
              </a:rP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623702" y="3529584"/>
            <a:ext cx="101935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E6E8EB"/>
                </a:solidFill>
                <a:latin typeface="JetBrains Mono"/>
              </a:rP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8640" y="4462272"/>
            <a:ext cx="5577840" cy="1645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400" b="0" i="0">
                <a:solidFill>
                  <a:srgbClr val="E6E8EB"/>
                </a:solidFill>
                <a:latin typeface="Inter"/>
              </a:rPr>
              <a:t>Every incident peaked </a:t>
            </a:r>
            <a:r>
              <a:rPr sz="1400" b="0" i="0">
                <a:solidFill>
                  <a:srgbClr val="E03131"/>
                </a:solidFill>
                <a:latin typeface="JetBrains Mono SemiBold"/>
              </a:rPr>
              <a:t>CRITICAL</a:t>
            </a:r>
            <a:r>
              <a:rPr sz="1400" b="0" i="0">
                <a:solidFill>
                  <a:srgbClr val="E6E8EB"/>
                </a:solidFill>
                <a:latin typeface="Inter"/>
              </a:rPr>
              <a:t>; each run replays the production parser and detector on a simulated clock.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400" b="0" i="0">
                <a:solidFill>
                  <a:srgbClr val="E6E8EB"/>
                </a:solidFill>
                <a:latin typeface="JetBrains Mono"/>
              </a:rPr>
              <a:t>146</a:t>
            </a:r>
            <a:r>
              <a:rPr sz="1400" b="0" i="0">
                <a:solidFill>
                  <a:srgbClr val="E6E8EB"/>
                </a:solidFill>
                <a:latin typeface="Inter"/>
              </a:rPr>
              <a:t> backend tests (pytest) and </a:t>
            </a:r>
            <a:r>
              <a:rPr sz="1400" b="0" i="0">
                <a:solidFill>
                  <a:srgbClr val="E6E8EB"/>
                </a:solidFill>
                <a:latin typeface="JetBrains Mono"/>
              </a:rPr>
              <a:t>80</a:t>
            </a:r>
            <a:r>
              <a:rPr sz="1400" b="0" i="0">
                <a:solidFill>
                  <a:srgbClr val="E6E8EB"/>
                </a:solidFill>
                <a:latin typeface="Inter"/>
              </a:rPr>
              <a:t> frontend tests (Vitest) pass.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583679" y="4462272"/>
            <a:ext cx="5059375" cy="1143000"/>
          </a:xfrm>
          <a:prstGeom prst="roundRect">
            <a:avLst>
              <a:gd name="adj" fmla="val 3333"/>
            </a:avLst>
          </a:prstGeom>
          <a:solidFill>
            <a:srgbClr val="171B21"/>
          </a:solidFill>
          <a:ln w="9525">
            <a:solidFill>
              <a:srgbClr val="262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6857999" y="4663440"/>
            <a:ext cx="451073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8A929C"/>
                </a:solidFill>
                <a:latin typeface="Inter Medium"/>
              </a:rPr>
              <a:t>Code, tests and docs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857999" y="4965192"/>
            <a:ext cx="4510735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E6E8EB"/>
                </a:solidFill>
                <a:latin typeface="JetBrains Mono SemiBold"/>
              </a:rPr>
              <a:t>github.com/panshularora/Acentra_HackForgeAI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8640" y="6473952"/>
            <a:ext cx="640080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8A929C"/>
                </a:solidFill>
                <a:latin typeface="JetBrains Mono"/>
              </a:rPr>
              <a:t>github.com/panshularora/Acentra_HackForgeAI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814255" y="6473952"/>
            <a:ext cx="182880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8A929C"/>
                </a:solidFill>
                <a:latin typeface="JetBrains Mono"/>
              </a:rPr>
              <a:t>8 /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ClaimsWatch</dc:title>
  <dc:subject/>
  <dc:creator>Panshul Arora, Naman Rai, Aarati Deshmukh, Aaditey Nim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